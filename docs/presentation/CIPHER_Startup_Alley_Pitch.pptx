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CIPHER is a systems prototype exploring behavioral network protection for small offices and homes. The revised proposition is an additional analysis/enforcement layer alongside an established firewall, not a replacement for a mature stateful firewall or a proven enterprise IPS. The desired outcome is useful additional protection with manageable resource use and false blocks. No measured performance, accuracy, or commercial-readiness claim is made.</a:t>
            </a:r>
          </a:p>
          <a:p/>
          <a:p>
            <a:r>
              <a:t>SOURCES / EVIDENCE</a:t>
            </a:r>
          </a:p>
          <a:p>
            <a:r>
              <a:t>Documents/Project_CIPHER_full_documentation.pdf</a:t>
            </a:r>
          </a:p>
          <a:p>
            <a:r>
              <a:t>ieee-cs-tech-project/Router/ebpf/src/kernel_space.c</a:t>
            </a:r>
          </a:p>
          <a:p>
            <a:r>
              <a:t>ieee-cs-tech-project/Router/daemon/src/main.rs</a:t>
            </a:r>
          </a:p>
          <a:p>
            <a:r>
              <a:t>ieee-cs-tech-project/Server/src/ai.rs</a:t>
            </a:r>
          </a:p>
          <a:p>
            <a:r>
              <a:t>CIPHER_Technical_FAQ.md</a:t>
            </a:r>
          </a:p>
          <a:p>
            <a:r>
              <a:t>User-requested independent critique and pitch revision.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scenario, not a successful detection claim. A firewall configured to permit a device's outbound HTTPS may allow both legitimate and malicious transfers. Metadata-based behavior analysis could add a signal, but these transfers can also look alike. The current four-feature detector and LLM are not proven to distinguish them. Do not claim that all firewalls lack advanced analytics, or that CIPHER decrypts HTTPS. The unmet need to validate is understandable, actionable device-level anomaly reporting with few disruptions.</a:t>
            </a:r>
          </a:p>
          <a:p/>
          <a:p>
            <a:r>
              <a:t>SOURCES / EVIDENCE</a:t>
            </a:r>
          </a:p>
          <a:p>
            <a:r>
              <a:t>ieee-cs-tech-project/Router/ebpf/src/kernel_space.c</a:t>
            </a:r>
          </a:p>
          <a:p>
            <a:r>
              <a:t>ieee-cs-tech-project/Server/src/ai.rs</a:t>
            </a:r>
          </a:p>
          <a:p>
            <a:r>
              <a:t>https://netfilter.org/projects/nftables/manpage.html</a:t>
            </a:r>
          </a:p>
          <a:p>
            <a:r>
              <a:t>Illustrative customer scenario; not a measured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topology complements an existing firewall. Monitor-and-alert policy, operator review and persistent device trust are implemented and exercised in the software demo. Monitor mode prevents NEW automatic device isolation; it does not remove existing blocks or disable kernel packet filters. Trust retains alerts and prevents automatic cloud/edge isolation; explicit manual isolation remains possible. Do not describe this as a passive packet tap. Arrows express responsibilities, not mandatory wiring. A real gateway rehearsal is still required before a pilot.</a:t>
            </a:r>
          </a:p>
          <a:p/>
          <a:p>
            <a:r>
              <a:t>SOURCES / EVIDENCE</a:t>
            </a:r>
          </a:p>
          <a:p>
            <a:r>
              <a:t>ieee-cs-tech-project/Router/ebpf/src/kernel_space.c</a:t>
            </a:r>
          </a:p>
          <a:p>
            <a:r>
              <a:t>ieee-cs-tech-project/Router/daemon/src/main.rs</a:t>
            </a:r>
          </a:p>
          <a:p>
            <a:r>
              <a:t>ieee-cs-tech-project/Server/src/handlers.rs</a:t>
            </a:r>
          </a:p>
          <a:p>
            <a:r>
              <a:t>https://netfilter.org/projects/nftables/manpage.html</a:t>
            </a:r>
          </a:p>
          <a:p>
            <a:r>
              <a:t>Proposed validation and deployment strategy following source review.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basic firewall capability from broader IPS products. nftables already provides kernel filtering, state tracking, address sets, counters and rate limits. Blocking ports, MACs, IPs or selected TCP flags is not the product's novelty. Basic firewall rules do not by themselves implement CIPHER's proposed per-device behavioral model. Suricata documents eBPF/XDP integration; OPNsense offers a Suricata-based IPS with Netmap. No head-to-head speed or security superiority is established. 'Implemented' means logic exists, not that all paths are validated. Commodity hardware and public libraries are implementation choices, not an exclusive moat. Defensibility would need to grow through reliable integration, deployment knowledge and demonstrated customer outcomes.</a:t>
            </a:r>
          </a:p>
          <a:p/>
          <a:p>
            <a:r>
              <a:t>SOURCES / EVIDENCE</a:t>
            </a:r>
          </a:p>
          <a:p>
            <a:r>
              <a:t>https://netfilter.org/projects/nftables/manpage.html</a:t>
            </a:r>
          </a:p>
          <a:p>
            <a:r>
              <a:t>https://docs.suricata.io/en/suricata-8.0.0/capture-hardware/ebpf-xdp.html</a:t>
            </a:r>
          </a:p>
          <a:p>
            <a:r>
              <a:t>https://docs.opnsense.org/manual/ips.html</a:t>
            </a:r>
          </a:p>
          <a:p>
            <a:r>
              <a:t>ieee-cs-tech-project/Router/ebpf/src/kernel_space.c</a:t>
            </a:r>
          </a:p>
          <a:p>
            <a:r>
              <a:t>ieee-cs-tech-project/Router/daemon/src/main.rs</a:t>
            </a:r>
          </a:p>
          <a:p>
            <a:r>
              <a:t>ieee-cs-tech-project/Server/src/ai.rs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plane contains MAC/IP filtering, selected protocol checks, a Bloom-filter DNS drop path, and an 8-bit diagnostic mask. The Rust edge uses HyperLogLog for approximate unique-address counting and sends FlatBuffers summaries over WebSockets. The server uses Axum and SQLite WAL. These are useful engineering components, not guarantees of zero overhead, total memory bounds, or full attack coverage. HyperLogLog bounds one sketch, while other state still grows. FlatBuffers supports direct field reads, but outgoing messages are copied. The loader uses XdpMode::Skb; native-driver efficiency needs its own test. Earlier 300 ns and under-3-microsecond documentation claims are deliberately omitted from slides because no reproducible benchmark report was found. Cloud reasoning is not on every packet's critical path.</a:t>
            </a:r>
          </a:p>
          <a:p/>
          <a:p>
            <a:r>
              <a:t>SOURCES / EVIDENCE</a:t>
            </a:r>
          </a:p>
          <a:p>
            <a:r>
              <a:t>ieee-cs-tech-project/Router/ebpf/src/kernel_space.c</a:t>
            </a:r>
          </a:p>
          <a:p>
            <a:r>
              <a:t>ieee-cs-tech-project/Router/ebpf/src/shared_defs.h</a:t>
            </a:r>
          </a:p>
          <a:p>
            <a:r>
              <a:t>ieee-cs-tech-project/Router/daemon/src/main.rs</a:t>
            </a:r>
          </a:p>
          <a:p>
            <a:r>
              <a:t>ieee-cs-tech-project/Server/src/main.rs</a:t>
            </a:r>
          </a:p>
          <a:p>
            <a:r>
              <a:t>ieee-cs-tech-project/Server/src/ai.rs</a:t>
            </a:r>
          </a:p>
          <a:p>
            <a:r>
              <a:t>ieee-cs-tech-project/router.fbs</a:t>
            </a:r>
          </a:p>
          <a:p>
            <a:r>
              <a:t>Documents/Project_CIPHER_full_documentation.pdf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 1 learns from 50 reports: observed incoming/outgoing payload bytes, drops and port entropy. Baselines persist and can be reset. Variance floors prevent tiny changes after constant traffic from becoming extreme scores. The LLM now receives baseline means/deviations, reasons and recent report context, but no payload or reliable destination attribution. Anthropic and OpenAI Chat Completions-compatible adapters are implemented; fixture tests pass, but live credentials/model access are not yet verified. Default booth mode uses a clearly labeled deterministic fixture, NOT an AI model. Real LLM reviews can be enabled after connection testing. Explain the distinction before showing incidents. Automated cloud isolation requires enforcement mode, an untrusted device, an open incident, unchanged policy, two signals and at least 85/100 self-reported confidence. This is a policy guard, not measured accuracy. Compare against statistics alone before relying on model recommendations.</a:t>
            </a:r>
          </a:p>
          <a:p/>
          <a:p>
            <a:r>
              <a:t>SOURCES / EVIDENCE</a:t>
            </a:r>
          </a:p>
          <a:p>
            <a:r>
              <a:t>ieee-cs-tech-project/Server/src/ai.rs</a:t>
            </a:r>
          </a:p>
          <a:p>
            <a:r>
              <a:t>ieee-cs-tech-project/docs/LLM_SETUP.md</a:t>
            </a:r>
          </a:p>
          <a:p>
            <a:r>
              <a:t>ieee-cs-tech-project/docs/BOOTH_READINESS.md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Three-minute flow: reset; scan in monitor mode; enable enforcement then scan; trust then scan; provider outage then scan; reset. Open incident evidence, show requested versus acknowledged responses and the trusted-device exemption. The fixture labels its verdicts DEMO; no physical packets are blocked. A legitimate-download scenario changes one feature and remains allowed. Additional verified software flows include explicit command failure, reconnect/replay, false-positive review and telemetry export. The actual daemon transport also has a separate TLS reconnect/outbox test; the booth's fake sensor does not establish kernel correctness. The kernel watchdog bypasses CIPHER filtering after a stale heartbeat, but real topology and failure recovery still need hardware validation. Keep an established firewall as the baseline security boundary.</a:t>
            </a:r>
          </a:p>
          <a:p/>
          <a:p>
            <a:r>
              <a:t>SOURCES / EVIDENCE</a:t>
            </a:r>
          </a:p>
          <a:p>
            <a:r>
              <a:t>ieee-cs-tech-project/docs/DEMO_GUIDE.md</a:t>
            </a:r>
          </a:p>
          <a:p>
            <a:r>
              <a:t>ieee-cs-tech-project/scripts/booth.py</a:t>
            </a:r>
          </a:p>
          <a:p>
            <a:r>
              <a:t>ieee-cs-tech-project/Router/daemon/src/network.rs</a:t>
            </a:r>
          </a:p>
          <a:p>
            <a:r>
              <a:t>ieee-cs-tech-project/Router/ebpf/src/kernel_space.c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narrows the original SOHO ambition to manageable, engineer-supported design partners. It is a customer hypothesis, not evidence of signed customers, validated market size or willingness to pay. Commodity hardware still requires suitable kernels, permissions, NICs and deployment configuration. Test whether actionable device-level alerts and careful intervention solve a real problem beyond the site's existing firewall and DNS controls. Evaluate deployment, server/model costs, operator workload and support effort. Multi-gigabit links are one future workload to benchmark, not a claimed performance level or quantified adoption opportunity. No revenue, price, margin or growth figures are introduced.</a:t>
            </a:r>
          </a:p>
          <a:p/>
          <a:p>
            <a:r>
              <a:t>SOURCES / EVIDENCE</a:t>
            </a:r>
          </a:p>
          <a:p>
            <a:r>
              <a:t>Documents/Project_CIPHER_full_documentation.pdf</a:t>
            </a:r>
          </a:p>
          <a:p>
            <a:r>
              <a:t>Documents/General Outline - The Four Horsemen.pdf</a:t>
            </a:r>
          </a:p>
          <a:p>
            <a:r>
              <a:t>Proposed customer-discovery and pilot scope.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experiment, not completed testing. Compare a well-configured baseline firewall, baseline plus CIPHER's statistical/local analysis, and baseline plus LLM review using the same hardware and traffic. Include ordinary downloads, backups, calls and updates as well as labeled malicious scenarios. First verify accurate telemetry and actual command application. Measure throughput, loss, latency distributions, CPU/RAM, false blocks per device-day, missed labeled threats, model-call cost and operator effort. Define acceptable thresholds with pilot partners before testing; do not invent targets as achieved results. Separate existing-rule drop latency from time to detect and block a new behavior. Record release, NIC/driver, kernel and XDP mode. Proceed only if additional security value outweighs disruption and operating cost; a simpler implementation may win.</a:t>
            </a:r>
          </a:p>
          <a:p/>
          <a:p>
            <a:r>
              <a:t>SOURCES / EVIDENCE</a:t>
            </a:r>
          </a:p>
          <a:p>
            <a:r>
              <a:t>CIPHER_Technical_FAQ.md: sections 22–24.</a:t>
            </a:r>
          </a:p>
          <a:p>
            <a:r>
              <a:t>https://netfilter.org/projects/nftables/manpage.html</a:t>
            </a:r>
          </a:p>
          <a:p>
            <a:r>
              <a:t>Proposed comparative evaluation; no results claimed.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Updated after booth preparation on 17 October 2026. Builds, TLS/API integration, role checks, both supervisor adapters against fixtures, saved trust/baselines, acknowledged commands and the real daemon reconnect/outbox test pass. The presenter rehearsal checks normal traffic, single-feature download, monitor/enforce, trust, manual overrides, failed commands, provider outage/malformed response, upload anomaly, incident review, offline replay, export and reset. Browser rehearsal covers the actual dashboard. This supersedes older notes claiming missing TLS checks, authorization, database initialization and reconnect support. Live provider calls have not been made because no credentials are configured. eBPF compiles but physical packet blocking, real gateway attribution, detection accuracy and performance remain unverified. The one-interface implementation is not full bidirectional gateway attribution. Do not claim production readiness, measured accuracy, guaranteed availability, or proof of attack prevention from this simulation. See the readiness matrix and recorded demo for the exact scope.</a:t>
            </a:r>
          </a:p>
          <a:p/>
          <a:p>
            <a:r>
              <a:t>SOURCES / EVIDENCE</a:t>
            </a:r>
          </a:p>
          <a:p>
            <a:r>
              <a:t>ieee-cs-tech-project/docs/BOOTH_READINESS.md</a:t>
            </a:r>
          </a:p>
          <a:p>
            <a:r>
              <a:t>ieee-cs-tech-project/docs/DEMO_GUIDE.md</a:t>
            </a:r>
          </a:p>
          <a:p>
            <a:r>
              <a:t>ieee-cs-tech-project/tests/integration.py</a:t>
            </a:r>
          </a:p>
          <a:p>
            <a:r>
              <a:t>ieee-cs-tech-project/tests/supervisor.py</a:t>
            </a:r>
          </a:p>
          <a:p>
            <a:r>
              <a:t>ieee-cs-tech-project/Router/daemon/src/network.rs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cards show technical domains, not four separate verified specialist credentials. The General Outline assigns systems/Rust to Zakaria, security/statistical modeling to Raneem, and full-stack/UI to Ayham; it identifies the kernel/network owner only as 'You'. Do not invent that person's name or imply separate network and eBPF headcount. The team has source spanning these domains; experienced infrastructure and security reviewers would help validate and harden the prototype.</a:t>
            </a:r>
          </a:p>
          <a:p/>
          <a:p>
            <a:r>
              <a:t>SOURCES / EVIDENCE</a:t>
            </a:r>
          </a:p>
          <a:p>
            <a:r>
              <a:t>Documents/General Outline - The Four Horsemen.pdf</a:t>
            </a:r>
          </a:p>
          <a:p>
            <a:r>
              <a:t>ieee-cs-tech-project/README.md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introductions to early SOHO design partners, feedback on the physical gateway and separate server arrangement, and infrastructure/security mentors. The sequence is intentional: demonstrate the rehearsed software flow; verify actual gateway visibility and packet enforcement; validate provider calls; agree on pilot scope and restoration; collect comparative evidence before relying on automation. Monitor-and-alert and operator review are implemented, but packet-level filtering remains active. A truly passive deployment is not established by toggling monitor mode. Keep baseline firewall protection in place. No immediate live-office installation, funding amount, signed partnership, customer count or delivery date is promised. Pilot entry and success criteria should be agreed with partners.</a:t>
            </a:r>
          </a:p>
          <a:p/>
          <a:p>
            <a:r>
              <a:t>SOURCES / EVIDENCE</a:t>
            </a:r>
          </a:p>
          <a:p>
            <a:r>
              <a:t>User brief: Startup Alley access, deployment feedback and mentor introductions.</a:t>
            </a:r>
          </a:p>
          <a:p>
            <a:r>
              <a:t>CIPHER_Technical_FAQ.md</a:t>
            </a:r>
          </a:p>
          <a:p>
            <a:r>
              <a:t>Proposed readiness gates following independent critique.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Title 1"/>
          <p:cNvSpPr>
            <a:spLocks noGrp="1"/>
          </p:cNvSpPr>
          <p:nvPr>
            <p:ph type="ctrTitle"/>
          </p:nvPr>
        </p:nvSpPr>
        <p:spPr>
          <a:xfrm>
            <a:off x="685800" y="1920240"/>
            <a:ext cx="7863840" cy="914400"/>
          </a:xfrm>
        </p:spPr>
        <p:txBody>
          <a:bodyPr wrap="square" lIns="0" rIns="0" tIns="0" bIns="0" anchor="t"/>
          <a:lstStyle/>
          <a:p>
            <a:pPr algn="l">
              <a:defRPr sz="4800" b="1">
                <a:solidFill>
                  <a:srgbClr val="F3F7FC"/>
                </a:solidFill>
                <a:latin typeface="Noto Sans"/>
              </a:defRPr>
              <a:lnSpc>
                <a:spcPct val="112000"/>
              </a:lnSpc>
              <a:spcAft>
                <a:spcPts val="0"/>
              </a:spcAft>
              <a:buNone/>
              <a:buNone/>
            </a:pPr>
            <a:r>
              <a:t>Project CIPHER</a:t>
            </a:r>
          </a:p>
        </p:txBody>
      </p:sp>
      <p:sp>
        <p:nvSpPr>
          <p:cNvPr id="3" name="Rectangle 2"/>
          <p:cNvSpPr/>
          <p:nvPr/>
        </p:nvSpPr>
        <p:spPr>
          <a:xfrm>
            <a:off x="502920" y="438912"/>
            <a:ext cx="91440" cy="1828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29768"/>
            <a:ext cx="10698480" cy="228600"/>
          </a:xfrm>
          <a:prstGeom prst="rect">
            <a:avLst/>
          </a:prstGeom>
          <a:noFill/>
        </p:spPr>
        <p:txBody>
          <a:bodyPr wrap="square" lIns="0" rIns="0" tIns="0" bIns="0" anchor="t">
            <a:spAutoFit/>
          </a:bodyPr>
          <a:lstStyle/>
          <a:p>
            <a:pPr algn="l">
              <a:lnSpc>
                <a:spcPct val="112000"/>
              </a:lnSpc>
              <a:spcAft>
                <a:spcPts val="0"/>
              </a:spcAft>
              <a:defRPr sz="1100" b="1">
                <a:solidFill>
                  <a:srgbClr val="54E1C1"/>
                </a:solidFill>
                <a:latin typeface="Noto Sans"/>
              </a:defRPr>
              <a:buNone/>
            </a:pPr>
            <a:r>
              <a:t>NETWORK SECURITY / PROTOTYPE</a:t>
            </a:r>
          </a:p>
        </p:txBody>
      </p:sp>
      <p:cxnSp>
        <p:nvCxnSpPr>
          <p:cNvPr id="5" name="Connector 4"/>
          <p:cNvCxnSpPr/>
          <p:nvPr/>
        </p:nvCxnSpPr>
        <p:spPr>
          <a:xfrm>
            <a:off x="685800" y="6364224"/>
            <a:ext cx="10817352" cy="0"/>
          </a:xfrm>
          <a:prstGeom prst="line">
            <a:avLst/>
          </a:prstGeom>
          <a:ln w="19050">
            <a:solidFill>
              <a:srgbClr val="2943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510528"/>
            <a:ext cx="6400800" cy="182880"/>
          </a:xfrm>
          <a:prstGeom prst="rect">
            <a:avLst/>
          </a:prstGeom>
          <a:noFill/>
        </p:spPr>
        <p:txBody>
          <a:bodyPr wrap="square" lIns="0" rIns="0" tIns="0" bIns="0" anchor="t">
            <a:spAutoFit/>
          </a:bodyPr>
          <a:lstStyle/>
          <a:p>
            <a:pPr algn="l">
              <a:lnSpc>
                <a:spcPct val="112000"/>
              </a:lnSpc>
              <a:spcAft>
                <a:spcPts val="0"/>
              </a:spcAft>
              <a:defRPr sz="900" b="0">
                <a:solidFill>
                  <a:srgbClr val="AFC1D3"/>
                </a:solidFill>
                <a:latin typeface="Noto Sans"/>
              </a:defRPr>
              <a:buNone/>
            </a:pPr>
            <a:r>
              <a:t>CIPHER  /  STARTUP ALLEY</a:t>
            </a:r>
          </a:p>
        </p:txBody>
      </p:sp>
      <p:sp>
        <p:nvSpPr>
          <p:cNvPr id="7" name="TextBox 6"/>
          <p:cNvSpPr txBox="1"/>
          <p:nvPr/>
        </p:nvSpPr>
        <p:spPr>
          <a:xfrm>
            <a:off x="10561320" y="6492240"/>
            <a:ext cx="941832" cy="210312"/>
          </a:xfrm>
          <a:prstGeom prst="rect">
            <a:avLst/>
          </a:prstGeom>
          <a:noFill/>
        </p:spPr>
        <p:txBody>
          <a:bodyPr wrap="square" lIns="0" rIns="0" tIns="0" bIns="0" anchor="t">
            <a:spAutoFit/>
          </a:bodyPr>
          <a:lstStyle/>
          <a:p>
            <a:pPr algn="r">
              <a:lnSpc>
                <a:spcPct val="112000"/>
              </a:lnSpc>
              <a:spcAft>
                <a:spcPts val="0"/>
              </a:spcAft>
              <a:defRPr sz="1000" b="0">
                <a:solidFill>
                  <a:srgbClr val="AFC1D3"/>
                </a:solidFill>
                <a:latin typeface="JetBrains Mono"/>
              </a:defRPr>
              <a:buNone/>
            </a:pPr>
            <a:r>
              <a:t>01 / 12</a:t>
            </a:r>
          </a:p>
        </p:txBody>
      </p:sp>
      <p:sp>
        <p:nvSpPr>
          <p:cNvPr id="8" name="TextBox 7"/>
          <p:cNvSpPr txBox="1"/>
          <p:nvPr/>
        </p:nvSpPr>
        <p:spPr>
          <a:xfrm>
            <a:off x="713232" y="3035808"/>
            <a:ext cx="7680960" cy="822960"/>
          </a:xfrm>
          <a:prstGeom prst="rect">
            <a:avLst/>
          </a:prstGeom>
          <a:noFill/>
        </p:spPr>
        <p:txBody>
          <a:bodyPr wrap="square" lIns="0" rIns="0" tIns="0" bIns="0" anchor="t">
            <a:spAutoFit/>
          </a:bodyPr>
          <a:lstStyle/>
          <a:p>
            <a:pPr algn="l">
              <a:lnSpc>
                <a:spcPct val="112000"/>
              </a:lnSpc>
              <a:spcAft>
                <a:spcPts val="0"/>
              </a:spcAft>
              <a:defRPr sz="2700" b="0">
                <a:solidFill>
                  <a:srgbClr val="AFC1D3"/>
                </a:solidFill>
                <a:latin typeface="Noto Sans"/>
              </a:defRPr>
              <a:buNone/>
            </a:pPr>
            <a:r>
              <a:t>Behavioral protection for small networks</a:t>
            </a:r>
          </a:p>
        </p:txBody>
      </p:sp>
      <p:sp>
        <p:nvSpPr>
          <p:cNvPr id="9" name="TextBox 8"/>
          <p:cNvSpPr txBox="1"/>
          <p:nvPr/>
        </p:nvSpPr>
        <p:spPr>
          <a:xfrm>
            <a:off x="713232" y="4078224"/>
            <a:ext cx="7680960" cy="777240"/>
          </a:xfrm>
          <a:prstGeom prst="rect">
            <a:avLst/>
          </a:prstGeom>
          <a:noFill/>
        </p:spPr>
        <p:txBody>
          <a:bodyPr wrap="square" lIns="0" rIns="0" tIns="0" bIns="0" anchor="t">
            <a:spAutoFit/>
          </a:bodyPr>
          <a:lstStyle/>
          <a:p>
            <a:pPr algn="l">
              <a:lnSpc>
                <a:spcPct val="112000"/>
              </a:lnSpc>
              <a:spcAft>
                <a:spcPts val="0"/>
              </a:spcAft>
              <a:defRPr sz="2000" b="0">
                <a:solidFill>
                  <a:srgbClr val="54E1C1"/>
                </a:solidFill>
                <a:latin typeface="Noto Sans"/>
              </a:defRPr>
              <a:buNone/>
            </a:pPr>
            <a:r>
              <a:t>Designed to complement an existing firewall</a:t>
            </a:r>
          </a:p>
        </p:txBody>
      </p:sp>
      <p:sp>
        <p:nvSpPr>
          <p:cNvPr id="10" name="Rounded Rectangle 9"/>
          <p:cNvSpPr/>
          <p:nvPr/>
        </p:nvSpPr>
        <p:spPr>
          <a:xfrm>
            <a:off x="713232" y="5093208"/>
            <a:ext cx="1874519" cy="329184"/>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148072"/>
            <a:ext cx="1691639" cy="210312"/>
          </a:xfrm>
          <a:prstGeom prst="rect">
            <a:avLst/>
          </a:prstGeom>
          <a:noFill/>
        </p:spPr>
        <p:txBody>
          <a:bodyPr wrap="square" lIns="0" rIns="0" tIns="0" bIns="0" anchor="t">
            <a:spAutoFit/>
          </a:bodyPr>
          <a:lstStyle/>
          <a:p>
            <a:pPr algn="l">
              <a:lnSpc>
                <a:spcPct val="112000"/>
              </a:lnSpc>
              <a:spcAft>
                <a:spcPts val="0"/>
              </a:spcAft>
              <a:defRPr sz="1000" b="1">
                <a:solidFill>
                  <a:srgbClr val="54E1C1"/>
                </a:solidFill>
                <a:latin typeface="Noto Sans"/>
              </a:defRPr>
              <a:buNone/>
            </a:pPr>
            <a:r>
              <a:t>THE 4 HORSEMEN</a:t>
            </a:r>
          </a:p>
        </p:txBody>
      </p:sp>
      <p:cxnSp>
        <p:nvCxnSpPr>
          <p:cNvPr id="12" name="Connector 11"/>
          <p:cNvCxnSpPr/>
          <p:nvPr/>
        </p:nvCxnSpPr>
        <p:spPr>
          <a:xfrm>
            <a:off x="8686800" y="2194560"/>
            <a:ext cx="594360" cy="0"/>
          </a:xfrm>
          <a:prstGeom prst="line">
            <a:avLst/>
          </a:prstGeom>
          <a:ln w="19050">
            <a:solidFill>
              <a:srgbClr val="73B9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853928" y="2194560"/>
            <a:ext cx="621792" cy="0"/>
          </a:xfrm>
          <a:prstGeom prst="line">
            <a:avLst/>
          </a:prstGeom>
          <a:ln w="19050">
            <a:solidFill>
              <a:srgbClr val="73B9FF"/>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586216" y="2144268"/>
            <a:ext cx="100584" cy="100584"/>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75720" y="2144268"/>
            <a:ext cx="100584" cy="100584"/>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8686800" y="2743200"/>
            <a:ext cx="594360" cy="0"/>
          </a:xfrm>
          <a:prstGeom prst="line">
            <a:avLst/>
          </a:prstGeom>
          <a:ln w="19050">
            <a:solidFill>
              <a:srgbClr val="73B9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853928" y="2743200"/>
            <a:ext cx="621792" cy="0"/>
          </a:xfrm>
          <a:prstGeom prst="line">
            <a:avLst/>
          </a:prstGeom>
          <a:ln w="19050">
            <a:solidFill>
              <a:srgbClr val="73B9FF"/>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8586216" y="2692908"/>
            <a:ext cx="100584" cy="100584"/>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475720" y="2692908"/>
            <a:ext cx="100584" cy="100584"/>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8686800" y="3291839"/>
            <a:ext cx="594360" cy="0"/>
          </a:xfrm>
          <a:prstGeom prst="line">
            <a:avLst/>
          </a:prstGeom>
          <a:ln w="19050">
            <a:solidFill>
              <a:srgbClr val="73B9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853928" y="3291839"/>
            <a:ext cx="621792" cy="0"/>
          </a:xfrm>
          <a:prstGeom prst="line">
            <a:avLst/>
          </a:prstGeom>
          <a:ln w="19050">
            <a:solidFill>
              <a:srgbClr val="73B9FF"/>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586216" y="3241547"/>
            <a:ext cx="100584" cy="100584"/>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475720" y="3241547"/>
            <a:ext cx="100584" cy="100584"/>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8686800" y="3840479"/>
            <a:ext cx="594360" cy="0"/>
          </a:xfrm>
          <a:prstGeom prst="line">
            <a:avLst/>
          </a:prstGeom>
          <a:ln w="19050">
            <a:solidFill>
              <a:srgbClr val="73B9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853928" y="3840479"/>
            <a:ext cx="621792" cy="0"/>
          </a:xfrm>
          <a:prstGeom prst="line">
            <a:avLst/>
          </a:prstGeom>
          <a:ln w="19050">
            <a:solidFill>
              <a:srgbClr val="73B9FF"/>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8586216" y="3790187"/>
            <a:ext cx="100584" cy="100584"/>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475720" y="3790187"/>
            <a:ext cx="100584" cy="100584"/>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8686800" y="4389120"/>
            <a:ext cx="594360" cy="0"/>
          </a:xfrm>
          <a:prstGeom prst="line">
            <a:avLst/>
          </a:prstGeom>
          <a:ln w="19050">
            <a:solidFill>
              <a:srgbClr val="73B9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853928" y="4389120"/>
            <a:ext cx="621792" cy="0"/>
          </a:xfrm>
          <a:prstGeom prst="line">
            <a:avLst/>
          </a:prstGeom>
          <a:ln w="19050">
            <a:solidFill>
              <a:srgbClr val="73B9FF"/>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8586216" y="4338828"/>
            <a:ext cx="100584" cy="100584"/>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475720" y="4338828"/>
            <a:ext cx="100584" cy="100584"/>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60" y="1865376"/>
            <a:ext cx="1572768" cy="2889504"/>
          </a:xfrm>
          <a:prstGeom prst="roundRect">
            <a:avLst>
              <a:gd name="adj" fmla="val 8000"/>
            </a:avLst>
          </a:prstGeom>
          <a:solidFill>
            <a:srgbClr val="102237"/>
          </a:solidFill>
          <a:ln w="12700">
            <a:solidFill>
              <a:srgbClr val="54E1C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46336" y="2542032"/>
            <a:ext cx="1078992" cy="1005840"/>
          </a:xfrm>
          <a:prstGeom prst="rect">
            <a:avLst/>
          </a:prstGeom>
          <a:noFill/>
        </p:spPr>
        <p:txBody>
          <a:bodyPr wrap="square" lIns="0" rIns="0" tIns="0" bIns="0" anchor="t">
            <a:spAutoFit/>
          </a:bodyPr>
          <a:lstStyle/>
          <a:p>
            <a:pPr algn="ctr">
              <a:lnSpc>
                <a:spcPct val="112000"/>
              </a:lnSpc>
              <a:spcAft>
                <a:spcPts val="0"/>
              </a:spcAft>
              <a:defRPr sz="6400" b="1">
                <a:solidFill>
                  <a:srgbClr val="54E1C1"/>
                </a:solidFill>
                <a:latin typeface="JetBrains Mono"/>
              </a:defRPr>
              <a:buNone/>
            </a:pPr>
            <a:r>
              <a:t>C</a:t>
            </a:r>
          </a:p>
        </p:txBody>
      </p:sp>
      <p:sp>
        <p:nvSpPr>
          <p:cNvPr id="34" name="TextBox 33"/>
          <p:cNvSpPr txBox="1"/>
          <p:nvPr/>
        </p:nvSpPr>
        <p:spPr>
          <a:xfrm>
            <a:off x="9436608" y="3904487"/>
            <a:ext cx="1261872" cy="320040"/>
          </a:xfrm>
          <a:prstGeom prst="rect">
            <a:avLst/>
          </a:prstGeom>
          <a:noFill/>
        </p:spPr>
        <p:txBody>
          <a:bodyPr wrap="square" lIns="0" rIns="0" tIns="0" bIns="0" anchor="t">
            <a:spAutoFit/>
          </a:bodyPr>
          <a:lstStyle/>
          <a:p>
            <a:pPr algn="ctr">
              <a:lnSpc>
                <a:spcPct val="112000"/>
              </a:lnSpc>
              <a:spcAft>
                <a:spcPts val="0"/>
              </a:spcAft>
              <a:defRPr sz="1100" b="0">
                <a:solidFill>
                  <a:srgbClr val="AFC1D3"/>
                </a:solidFill>
                <a:latin typeface="Noto Sans"/>
              </a:defRPr>
              <a:buNone/>
            </a:pPr>
            <a:r>
              <a:t>eBPF / XDP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Title 1"/>
          <p:cNvSpPr>
            <a:spLocks noGrp="1"/>
          </p:cNvSpPr>
          <p:nvPr>
            <p:ph type="title"/>
          </p:nvPr>
        </p:nvSpPr>
        <p:spPr>
          <a:xfrm>
            <a:off x="685800" y="932688"/>
            <a:ext cx="10789920" cy="1188720"/>
          </a:xfrm>
        </p:spPr>
        <p:txBody>
          <a:bodyPr wrap="square" lIns="0" rIns="0" tIns="0" bIns="0" anchor="t"/>
          <a:lstStyle/>
          <a:p>
            <a:pPr algn="l">
              <a:lnSpc>
                <a:spcPct val="112000"/>
              </a:lnSpc>
              <a:spcAft>
                <a:spcPts val="0"/>
              </a:spcAft>
              <a:defRPr sz="3400" b="1">
                <a:solidFill>
                  <a:srgbClr val="F3F7FC"/>
                </a:solidFill>
                <a:latin typeface="Noto Sans"/>
              </a:defRPr>
              <a:buNone/>
            </a:pPr>
            <a:r>
              <a:t>Allowed traffic can still be harmful.</a:t>
            </a:r>
          </a:p>
        </p:txBody>
      </p:sp>
      <p:sp>
        <p:nvSpPr>
          <p:cNvPr id="3" name="Rectangle 2"/>
          <p:cNvSpPr/>
          <p:nvPr/>
        </p:nvSpPr>
        <p:spPr>
          <a:xfrm>
            <a:off x="502920" y="438912"/>
            <a:ext cx="91440" cy="1828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29768"/>
            <a:ext cx="10698480" cy="228600"/>
          </a:xfrm>
          <a:prstGeom prst="rect">
            <a:avLst/>
          </a:prstGeom>
          <a:noFill/>
        </p:spPr>
        <p:txBody>
          <a:bodyPr wrap="square" lIns="0" rIns="0" tIns="0" bIns="0" anchor="t">
            <a:spAutoFit/>
          </a:bodyPr>
          <a:lstStyle/>
          <a:p>
            <a:pPr algn="l">
              <a:lnSpc>
                <a:spcPct val="112000"/>
              </a:lnSpc>
              <a:spcAft>
                <a:spcPts val="0"/>
              </a:spcAft>
              <a:defRPr sz="1100" b="1">
                <a:solidFill>
                  <a:srgbClr val="54E1C1"/>
                </a:solidFill>
                <a:latin typeface="Noto Sans"/>
              </a:defRPr>
              <a:buNone/>
            </a:pPr>
            <a:r>
              <a:t>02 / THE PROBLEM</a:t>
            </a:r>
          </a:p>
        </p:txBody>
      </p:sp>
      <p:cxnSp>
        <p:nvCxnSpPr>
          <p:cNvPr id="5" name="Connector 4"/>
          <p:cNvCxnSpPr/>
          <p:nvPr/>
        </p:nvCxnSpPr>
        <p:spPr>
          <a:xfrm>
            <a:off x="685800" y="6364224"/>
            <a:ext cx="10817352" cy="0"/>
          </a:xfrm>
          <a:prstGeom prst="line">
            <a:avLst/>
          </a:prstGeom>
          <a:ln w="19050">
            <a:solidFill>
              <a:srgbClr val="2943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510528"/>
            <a:ext cx="6400800" cy="182880"/>
          </a:xfrm>
          <a:prstGeom prst="rect">
            <a:avLst/>
          </a:prstGeom>
          <a:noFill/>
        </p:spPr>
        <p:txBody>
          <a:bodyPr wrap="square" lIns="0" rIns="0" tIns="0" bIns="0" anchor="t">
            <a:spAutoFit/>
          </a:bodyPr>
          <a:lstStyle/>
          <a:p>
            <a:pPr algn="l">
              <a:lnSpc>
                <a:spcPct val="112000"/>
              </a:lnSpc>
              <a:spcAft>
                <a:spcPts val="0"/>
              </a:spcAft>
              <a:defRPr sz="900" b="0">
                <a:solidFill>
                  <a:srgbClr val="AFC1D3"/>
                </a:solidFill>
                <a:latin typeface="Noto Sans"/>
              </a:defRPr>
              <a:buNone/>
            </a:pPr>
            <a:r>
              <a:t>CIPHER  /  STARTUP ALLEY</a:t>
            </a:r>
          </a:p>
        </p:txBody>
      </p:sp>
      <p:sp>
        <p:nvSpPr>
          <p:cNvPr id="7" name="TextBox 6"/>
          <p:cNvSpPr txBox="1"/>
          <p:nvPr/>
        </p:nvSpPr>
        <p:spPr>
          <a:xfrm>
            <a:off x="10561320" y="6492240"/>
            <a:ext cx="941832" cy="210312"/>
          </a:xfrm>
          <a:prstGeom prst="rect">
            <a:avLst/>
          </a:prstGeom>
          <a:noFill/>
        </p:spPr>
        <p:txBody>
          <a:bodyPr wrap="square" lIns="0" rIns="0" tIns="0" bIns="0" anchor="t">
            <a:spAutoFit/>
          </a:bodyPr>
          <a:lstStyle/>
          <a:p>
            <a:pPr algn="r">
              <a:lnSpc>
                <a:spcPct val="112000"/>
              </a:lnSpc>
              <a:spcAft>
                <a:spcPts val="0"/>
              </a:spcAft>
              <a:defRPr sz="1000" b="0">
                <a:solidFill>
                  <a:srgbClr val="AFC1D3"/>
                </a:solidFill>
                <a:latin typeface="JetBrains Mono"/>
              </a:defRPr>
              <a:buNone/>
            </a:pPr>
            <a:r>
              <a:t>02 / 12</a:t>
            </a:r>
          </a:p>
        </p:txBody>
      </p:sp>
      <p:sp>
        <p:nvSpPr>
          <p:cNvPr id="8" name="Rounded Rectangle 7"/>
          <p:cNvSpPr/>
          <p:nvPr/>
        </p:nvSpPr>
        <p:spPr>
          <a:xfrm>
            <a:off x="685800" y="2423160"/>
            <a:ext cx="5148072" cy="310896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651760"/>
            <a:ext cx="36576" cy="265176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43200"/>
            <a:ext cx="4690872" cy="777240"/>
          </a:xfrm>
          <a:prstGeom prst="rect">
            <a:avLst/>
          </a:prstGeom>
          <a:noFill/>
        </p:spPr>
        <p:txBody>
          <a:bodyPr wrap="square" lIns="0" rIns="0" tIns="0" bIns="0" anchor="t">
            <a:spAutoFit/>
          </a:bodyPr>
          <a:lstStyle/>
          <a:p>
            <a:pPr algn="l">
              <a:lnSpc>
                <a:spcPct val="112000"/>
              </a:lnSpc>
              <a:spcAft>
                <a:spcPts val="0"/>
              </a:spcAft>
              <a:defRPr sz="2200" b="1">
                <a:solidFill>
                  <a:srgbClr val="54E1C1"/>
                </a:solidFill>
                <a:latin typeface="Noto Sans"/>
              </a:defRPr>
              <a:buNone/>
            </a:pPr>
            <a:r>
              <a:t>LEGITIMATE ACTIVITY</a:t>
            </a:r>
          </a:p>
        </p:txBody>
      </p:sp>
      <p:sp>
        <p:nvSpPr>
          <p:cNvPr id="11" name="TextBox 10"/>
          <p:cNvSpPr txBox="1"/>
          <p:nvPr/>
        </p:nvSpPr>
        <p:spPr>
          <a:xfrm>
            <a:off x="914400" y="3685032"/>
            <a:ext cx="4690872"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A camera uploads a backup</a:t>
            </a:r>
          </a:p>
        </p:txBody>
      </p:sp>
      <p:sp>
        <p:nvSpPr>
          <p:cNvPr id="12" name="Rounded Rectangle 11"/>
          <p:cNvSpPr/>
          <p:nvPr/>
        </p:nvSpPr>
        <p:spPr>
          <a:xfrm>
            <a:off x="6355080" y="2423160"/>
            <a:ext cx="5148072" cy="310896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2651760"/>
            <a:ext cx="36576" cy="2651760"/>
          </a:xfrm>
          <a:prstGeom prst="rect">
            <a:avLst/>
          </a:prstGeom>
          <a:solidFill>
            <a:srgbClr val="FFB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2743200"/>
            <a:ext cx="4690872" cy="777240"/>
          </a:xfrm>
          <a:prstGeom prst="rect">
            <a:avLst/>
          </a:prstGeom>
          <a:noFill/>
        </p:spPr>
        <p:txBody>
          <a:bodyPr wrap="square" lIns="0" rIns="0" tIns="0" bIns="0" anchor="t">
            <a:spAutoFit/>
          </a:bodyPr>
          <a:lstStyle/>
          <a:p>
            <a:pPr algn="l">
              <a:lnSpc>
                <a:spcPct val="112000"/>
              </a:lnSpc>
              <a:spcAft>
                <a:spcPts val="0"/>
              </a:spcAft>
              <a:defRPr sz="2200" b="1">
                <a:solidFill>
                  <a:srgbClr val="FFBE73"/>
                </a:solidFill>
                <a:latin typeface="Noto Sans"/>
              </a:defRPr>
              <a:buNone/>
            </a:pPr>
            <a:r>
              <a:t>COMPROMISED DEVICE</a:t>
            </a:r>
          </a:p>
        </p:txBody>
      </p:sp>
      <p:sp>
        <p:nvSpPr>
          <p:cNvPr id="15" name="TextBox 14"/>
          <p:cNvSpPr txBox="1"/>
          <p:nvPr/>
        </p:nvSpPr>
        <p:spPr>
          <a:xfrm>
            <a:off x="6583680" y="3685032"/>
            <a:ext cx="4690872"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A camera uploads stolen data</a:t>
            </a:r>
          </a:p>
        </p:txBody>
      </p:sp>
      <p:sp>
        <p:nvSpPr>
          <p:cNvPr id="16" name="TextBox 15"/>
          <p:cNvSpPr txBox="1"/>
          <p:nvPr/>
        </p:nvSpPr>
        <p:spPr>
          <a:xfrm>
            <a:off x="731520" y="5797296"/>
            <a:ext cx="10789920" cy="402336"/>
          </a:xfrm>
          <a:prstGeom prst="rect">
            <a:avLst/>
          </a:prstGeom>
          <a:noFill/>
        </p:spPr>
        <p:txBody>
          <a:bodyPr wrap="square" lIns="0" rIns="0" tIns="0" bIns="0" anchor="t">
            <a:spAutoFit/>
          </a:bodyPr>
          <a:lstStyle/>
          <a:p>
            <a:pPr algn="l">
              <a:lnSpc>
                <a:spcPct val="112000"/>
              </a:lnSpc>
              <a:spcAft>
                <a:spcPts val="0"/>
              </a:spcAft>
              <a:defRPr sz="2200" b="0">
                <a:solidFill>
                  <a:srgbClr val="AFC1D3"/>
                </a:solidFill>
                <a:latin typeface="Noto Sans"/>
              </a:defRPr>
              <a:buNone/>
            </a:pPr>
            <a:r>
              <a:t>Both may use allowed HTTPS. Context matters.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Title 1"/>
          <p:cNvSpPr>
            <a:spLocks noGrp="1"/>
          </p:cNvSpPr>
          <p:nvPr>
            <p:ph type="title"/>
          </p:nvPr>
        </p:nvSpPr>
        <p:spPr>
          <a:xfrm>
            <a:off x="685800" y="932688"/>
            <a:ext cx="10789920" cy="1188720"/>
          </a:xfrm>
        </p:spPr>
        <p:txBody>
          <a:bodyPr wrap="square" lIns="0" rIns="0" tIns="0" bIns="0" anchor="t"/>
          <a:lstStyle/>
          <a:p>
            <a:pPr algn="l">
              <a:lnSpc>
                <a:spcPct val="112000"/>
              </a:lnSpc>
              <a:spcAft>
                <a:spcPts val="0"/>
              </a:spcAft>
              <a:defRPr sz="3400" b="1">
                <a:solidFill>
                  <a:srgbClr val="F3F7FC"/>
                </a:solidFill>
                <a:latin typeface="Noto Sans"/>
              </a:defRPr>
              <a:buNone/>
            </a:pPr>
            <a:r>
              <a:t>Add behavioral signals to existing protection.</a:t>
            </a:r>
          </a:p>
        </p:txBody>
      </p:sp>
      <p:sp>
        <p:nvSpPr>
          <p:cNvPr id="3" name="Rectangle 2"/>
          <p:cNvSpPr/>
          <p:nvPr/>
        </p:nvSpPr>
        <p:spPr>
          <a:xfrm>
            <a:off x="502920" y="438912"/>
            <a:ext cx="91440" cy="1828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29768"/>
            <a:ext cx="10698480" cy="228600"/>
          </a:xfrm>
          <a:prstGeom prst="rect">
            <a:avLst/>
          </a:prstGeom>
          <a:noFill/>
        </p:spPr>
        <p:txBody>
          <a:bodyPr wrap="square" lIns="0" rIns="0" tIns="0" bIns="0" anchor="t">
            <a:spAutoFit/>
          </a:bodyPr>
          <a:lstStyle/>
          <a:p>
            <a:pPr algn="l">
              <a:lnSpc>
                <a:spcPct val="112000"/>
              </a:lnSpc>
              <a:spcAft>
                <a:spcPts val="0"/>
              </a:spcAft>
              <a:defRPr sz="1100" b="1">
                <a:solidFill>
                  <a:srgbClr val="54E1C1"/>
                </a:solidFill>
                <a:latin typeface="Noto Sans"/>
              </a:defRPr>
              <a:buNone/>
            </a:pPr>
            <a:r>
              <a:t>03 / PRODUCT APPROACH</a:t>
            </a:r>
          </a:p>
        </p:txBody>
      </p:sp>
      <p:cxnSp>
        <p:nvCxnSpPr>
          <p:cNvPr id="5" name="Connector 4"/>
          <p:cNvCxnSpPr/>
          <p:nvPr/>
        </p:nvCxnSpPr>
        <p:spPr>
          <a:xfrm>
            <a:off x="685800" y="6364224"/>
            <a:ext cx="10817352" cy="0"/>
          </a:xfrm>
          <a:prstGeom prst="line">
            <a:avLst/>
          </a:prstGeom>
          <a:ln w="19050">
            <a:solidFill>
              <a:srgbClr val="2943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510528"/>
            <a:ext cx="6400800" cy="182880"/>
          </a:xfrm>
          <a:prstGeom prst="rect">
            <a:avLst/>
          </a:prstGeom>
          <a:noFill/>
        </p:spPr>
        <p:txBody>
          <a:bodyPr wrap="square" lIns="0" rIns="0" tIns="0" bIns="0" anchor="t">
            <a:spAutoFit/>
          </a:bodyPr>
          <a:lstStyle/>
          <a:p>
            <a:pPr algn="l">
              <a:lnSpc>
                <a:spcPct val="112000"/>
              </a:lnSpc>
              <a:spcAft>
                <a:spcPts val="0"/>
              </a:spcAft>
              <a:defRPr sz="900" b="0">
                <a:solidFill>
                  <a:srgbClr val="AFC1D3"/>
                </a:solidFill>
                <a:latin typeface="Noto Sans"/>
              </a:defRPr>
              <a:buNone/>
            </a:pPr>
            <a:r>
              <a:t>CIPHER  /  STARTUP ALLEY</a:t>
            </a:r>
          </a:p>
        </p:txBody>
      </p:sp>
      <p:sp>
        <p:nvSpPr>
          <p:cNvPr id="7" name="TextBox 6"/>
          <p:cNvSpPr txBox="1"/>
          <p:nvPr/>
        </p:nvSpPr>
        <p:spPr>
          <a:xfrm>
            <a:off x="10561320" y="6492240"/>
            <a:ext cx="941832" cy="210312"/>
          </a:xfrm>
          <a:prstGeom prst="rect">
            <a:avLst/>
          </a:prstGeom>
          <a:noFill/>
        </p:spPr>
        <p:txBody>
          <a:bodyPr wrap="square" lIns="0" rIns="0" tIns="0" bIns="0" anchor="t">
            <a:spAutoFit/>
          </a:bodyPr>
          <a:lstStyle/>
          <a:p>
            <a:pPr algn="r">
              <a:lnSpc>
                <a:spcPct val="112000"/>
              </a:lnSpc>
              <a:spcAft>
                <a:spcPts val="0"/>
              </a:spcAft>
              <a:defRPr sz="1000" b="0">
                <a:solidFill>
                  <a:srgbClr val="AFC1D3"/>
                </a:solidFill>
                <a:latin typeface="JetBrains Mono"/>
              </a:defRPr>
              <a:buNone/>
            </a:pPr>
            <a:r>
              <a:t>03 / 12</a:t>
            </a:r>
          </a:p>
        </p:txBody>
      </p:sp>
      <p:sp>
        <p:nvSpPr>
          <p:cNvPr id="8" name="Rounded Rectangle 7"/>
          <p:cNvSpPr/>
          <p:nvPr/>
        </p:nvSpPr>
        <p:spPr>
          <a:xfrm>
            <a:off x="731520" y="2221992"/>
            <a:ext cx="2578608" cy="329184"/>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76856"/>
            <a:ext cx="2395727" cy="210312"/>
          </a:xfrm>
          <a:prstGeom prst="rect">
            <a:avLst/>
          </a:prstGeom>
          <a:noFill/>
        </p:spPr>
        <p:txBody>
          <a:bodyPr wrap="square" lIns="0" rIns="0" tIns="0" bIns="0" anchor="t">
            <a:spAutoFit/>
          </a:bodyPr>
          <a:lstStyle/>
          <a:p>
            <a:pPr algn="l">
              <a:lnSpc>
                <a:spcPct val="112000"/>
              </a:lnSpc>
              <a:spcAft>
                <a:spcPts val="0"/>
              </a:spcAft>
              <a:defRPr sz="1000" b="1">
                <a:solidFill>
                  <a:srgbClr val="54E1C1"/>
                </a:solidFill>
                <a:latin typeface="Noto Sans"/>
              </a:defRPr>
              <a:buNone/>
            </a:pPr>
            <a:r>
              <a:t>PROPOSED DEPLOYMENT</a:t>
            </a:r>
          </a:p>
        </p:txBody>
      </p:sp>
      <p:sp>
        <p:nvSpPr>
          <p:cNvPr id="10" name="Rounded Rectangle 9"/>
          <p:cNvSpPr/>
          <p:nvPr/>
        </p:nvSpPr>
        <p:spPr>
          <a:xfrm>
            <a:off x="685800" y="2779776"/>
            <a:ext cx="3291840" cy="265176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3008376"/>
            <a:ext cx="36576" cy="2194560"/>
          </a:xfrm>
          <a:prstGeom prst="rect">
            <a:avLst/>
          </a:prstGeom>
          <a:solidFill>
            <a:srgbClr val="73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099816"/>
            <a:ext cx="2834640" cy="777240"/>
          </a:xfrm>
          <a:prstGeom prst="rect">
            <a:avLst/>
          </a:prstGeom>
          <a:noFill/>
        </p:spPr>
        <p:txBody>
          <a:bodyPr wrap="square" lIns="0" rIns="0" tIns="0" bIns="0" anchor="t">
            <a:spAutoFit/>
          </a:bodyPr>
          <a:lstStyle/>
          <a:p>
            <a:pPr algn="l">
              <a:lnSpc>
                <a:spcPct val="112000"/>
              </a:lnSpc>
              <a:spcAft>
                <a:spcPts val="0"/>
              </a:spcAft>
              <a:defRPr sz="2200" b="1">
                <a:solidFill>
                  <a:srgbClr val="73B9FF"/>
                </a:solidFill>
                <a:latin typeface="Noto Sans"/>
              </a:defRPr>
              <a:buNone/>
            </a:pPr>
            <a:r>
              <a:t>Existing firewall</a:t>
            </a:r>
          </a:p>
        </p:txBody>
      </p:sp>
      <p:sp>
        <p:nvSpPr>
          <p:cNvPr id="13" name="TextBox 12"/>
          <p:cNvSpPr txBox="1"/>
          <p:nvPr/>
        </p:nvSpPr>
        <p:spPr>
          <a:xfrm>
            <a:off x="914400" y="4041648"/>
            <a:ext cx="283464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Baseline access policy</a:t>
            </a:r>
          </a:p>
        </p:txBody>
      </p:sp>
      <p:sp>
        <p:nvSpPr>
          <p:cNvPr id="14" name="Chevron 13"/>
          <p:cNvSpPr/>
          <p:nvPr/>
        </p:nvSpPr>
        <p:spPr>
          <a:xfrm>
            <a:off x="4069080" y="3785615"/>
            <a:ext cx="256032" cy="347472"/>
          </a:xfrm>
          <a:prstGeom prst="chevron">
            <a:avLst/>
          </a:prstGeom>
          <a:solidFill>
            <a:srgbClr val="73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43984" y="2779776"/>
            <a:ext cx="3291840" cy="265176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43984" y="3008376"/>
            <a:ext cx="36576" cy="219456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72584" y="3099816"/>
            <a:ext cx="2834640" cy="777240"/>
          </a:xfrm>
          <a:prstGeom prst="rect">
            <a:avLst/>
          </a:prstGeom>
          <a:noFill/>
        </p:spPr>
        <p:txBody>
          <a:bodyPr wrap="square" lIns="0" rIns="0" tIns="0" bIns="0" anchor="t">
            <a:spAutoFit/>
          </a:bodyPr>
          <a:lstStyle/>
          <a:p>
            <a:pPr algn="l">
              <a:lnSpc>
                <a:spcPct val="112000"/>
              </a:lnSpc>
              <a:spcAft>
                <a:spcPts val="0"/>
              </a:spcAft>
              <a:defRPr sz="2200" b="1">
                <a:solidFill>
                  <a:srgbClr val="54E1C1"/>
                </a:solidFill>
                <a:latin typeface="Noto Sans"/>
              </a:defRPr>
              <a:buNone/>
            </a:pPr>
            <a:r>
              <a:t>CIPHER</a:t>
            </a:r>
          </a:p>
        </p:txBody>
      </p:sp>
      <p:sp>
        <p:nvSpPr>
          <p:cNvPr id="18" name="TextBox 17"/>
          <p:cNvSpPr txBox="1"/>
          <p:nvPr/>
        </p:nvSpPr>
        <p:spPr>
          <a:xfrm>
            <a:off x="4672584" y="4041648"/>
            <a:ext cx="283464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Device-level anomalies</a:t>
            </a:r>
          </a:p>
        </p:txBody>
      </p:sp>
      <p:sp>
        <p:nvSpPr>
          <p:cNvPr id="19" name="Chevron 18"/>
          <p:cNvSpPr/>
          <p:nvPr/>
        </p:nvSpPr>
        <p:spPr>
          <a:xfrm>
            <a:off x="7836408" y="3785615"/>
            <a:ext cx="256032" cy="347472"/>
          </a:xfrm>
          <a:prstGeom prst="chevron">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11312" y="2779776"/>
            <a:ext cx="3291840" cy="265176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11312" y="3008376"/>
            <a:ext cx="36576" cy="2194560"/>
          </a:xfrm>
          <a:prstGeom prst="rect">
            <a:avLst/>
          </a:prstGeom>
          <a:solidFill>
            <a:srgbClr val="FFB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9912" y="3099816"/>
            <a:ext cx="2834640" cy="777240"/>
          </a:xfrm>
          <a:prstGeom prst="rect">
            <a:avLst/>
          </a:prstGeom>
          <a:noFill/>
        </p:spPr>
        <p:txBody>
          <a:bodyPr wrap="square" lIns="0" rIns="0" tIns="0" bIns="0" anchor="t">
            <a:spAutoFit/>
          </a:bodyPr>
          <a:lstStyle/>
          <a:p>
            <a:pPr algn="l">
              <a:lnSpc>
                <a:spcPct val="112000"/>
              </a:lnSpc>
              <a:spcAft>
                <a:spcPts val="0"/>
              </a:spcAft>
              <a:defRPr sz="2200" b="1">
                <a:solidFill>
                  <a:srgbClr val="FFBE73"/>
                </a:solidFill>
                <a:latin typeface="Noto Sans"/>
              </a:defRPr>
              <a:buNone/>
            </a:pPr>
            <a:r>
              <a:t>Operator</a:t>
            </a:r>
          </a:p>
        </p:txBody>
      </p:sp>
      <p:sp>
        <p:nvSpPr>
          <p:cNvPr id="23" name="TextBox 22"/>
          <p:cNvSpPr txBox="1"/>
          <p:nvPr/>
        </p:nvSpPr>
        <p:spPr>
          <a:xfrm>
            <a:off x="8439912" y="4041648"/>
            <a:ext cx="283464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Monitor, review + trust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Title 1"/>
          <p:cNvSpPr>
            <a:spLocks noGrp="1"/>
          </p:cNvSpPr>
          <p:nvPr>
            <p:ph type="title"/>
          </p:nvPr>
        </p:nvSpPr>
        <p:spPr>
          <a:xfrm>
            <a:off x="685800" y="932688"/>
            <a:ext cx="10789920" cy="1188720"/>
          </a:xfrm>
        </p:spPr>
        <p:txBody>
          <a:bodyPr wrap="square" lIns="0" rIns="0" tIns="0" bIns="0" anchor="t"/>
          <a:lstStyle/>
          <a:p>
            <a:pPr algn="l">
              <a:lnSpc>
                <a:spcPct val="112000"/>
              </a:lnSpc>
              <a:spcAft>
                <a:spcPts val="0"/>
              </a:spcAft>
              <a:defRPr sz="3400" b="1">
                <a:solidFill>
                  <a:srgbClr val="F3F7FC"/>
                </a:solidFill>
                <a:latin typeface="Noto Sans"/>
              </a:defRPr>
              <a:buNone/>
            </a:pPr>
            <a:r>
              <a:t>Blocking is established. Detection must add value.</a:t>
            </a:r>
          </a:p>
        </p:txBody>
      </p:sp>
      <p:sp>
        <p:nvSpPr>
          <p:cNvPr id="3" name="Rectangle 2"/>
          <p:cNvSpPr/>
          <p:nvPr/>
        </p:nvSpPr>
        <p:spPr>
          <a:xfrm>
            <a:off x="502920" y="438912"/>
            <a:ext cx="91440" cy="1828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29768"/>
            <a:ext cx="10698480" cy="228600"/>
          </a:xfrm>
          <a:prstGeom prst="rect">
            <a:avLst/>
          </a:prstGeom>
          <a:noFill/>
        </p:spPr>
        <p:txBody>
          <a:bodyPr wrap="square" lIns="0" rIns="0" tIns="0" bIns="0" anchor="t">
            <a:spAutoFit/>
          </a:bodyPr>
          <a:lstStyle/>
          <a:p>
            <a:pPr algn="l">
              <a:lnSpc>
                <a:spcPct val="112000"/>
              </a:lnSpc>
              <a:spcAft>
                <a:spcPts val="0"/>
              </a:spcAft>
              <a:defRPr sz="1100" b="1">
                <a:solidFill>
                  <a:srgbClr val="54E1C1"/>
                </a:solidFill>
                <a:latin typeface="Noto Sans"/>
              </a:defRPr>
              <a:buNone/>
            </a:pPr>
            <a:r>
              <a:t>04 / COMPETITIVE CONTEXT</a:t>
            </a:r>
          </a:p>
        </p:txBody>
      </p:sp>
      <p:cxnSp>
        <p:nvCxnSpPr>
          <p:cNvPr id="5" name="Connector 4"/>
          <p:cNvCxnSpPr/>
          <p:nvPr/>
        </p:nvCxnSpPr>
        <p:spPr>
          <a:xfrm>
            <a:off x="685800" y="6364224"/>
            <a:ext cx="10817352" cy="0"/>
          </a:xfrm>
          <a:prstGeom prst="line">
            <a:avLst/>
          </a:prstGeom>
          <a:ln w="19050">
            <a:solidFill>
              <a:srgbClr val="2943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510528"/>
            <a:ext cx="6400800" cy="182880"/>
          </a:xfrm>
          <a:prstGeom prst="rect">
            <a:avLst/>
          </a:prstGeom>
          <a:noFill/>
        </p:spPr>
        <p:txBody>
          <a:bodyPr wrap="square" lIns="0" rIns="0" tIns="0" bIns="0" anchor="t">
            <a:spAutoFit/>
          </a:bodyPr>
          <a:lstStyle/>
          <a:p>
            <a:pPr algn="l">
              <a:lnSpc>
                <a:spcPct val="112000"/>
              </a:lnSpc>
              <a:spcAft>
                <a:spcPts val="0"/>
              </a:spcAft>
              <a:defRPr sz="900" b="0">
                <a:solidFill>
                  <a:srgbClr val="AFC1D3"/>
                </a:solidFill>
                <a:latin typeface="Noto Sans"/>
              </a:defRPr>
              <a:buNone/>
            </a:pPr>
            <a:r>
              <a:t>CIPHER  /  STARTUP ALLEY</a:t>
            </a:r>
          </a:p>
        </p:txBody>
      </p:sp>
      <p:sp>
        <p:nvSpPr>
          <p:cNvPr id="7" name="TextBox 6"/>
          <p:cNvSpPr txBox="1"/>
          <p:nvPr/>
        </p:nvSpPr>
        <p:spPr>
          <a:xfrm>
            <a:off x="10561320" y="6492240"/>
            <a:ext cx="941832" cy="210312"/>
          </a:xfrm>
          <a:prstGeom prst="rect">
            <a:avLst/>
          </a:prstGeom>
          <a:noFill/>
        </p:spPr>
        <p:txBody>
          <a:bodyPr wrap="square" lIns="0" rIns="0" tIns="0" bIns="0" anchor="t">
            <a:spAutoFit/>
          </a:bodyPr>
          <a:lstStyle/>
          <a:p>
            <a:pPr algn="r">
              <a:lnSpc>
                <a:spcPct val="112000"/>
              </a:lnSpc>
              <a:spcAft>
                <a:spcPts val="0"/>
              </a:spcAft>
              <a:defRPr sz="1000" b="0">
                <a:solidFill>
                  <a:srgbClr val="AFC1D3"/>
                </a:solidFill>
                <a:latin typeface="JetBrains Mono"/>
              </a:defRPr>
              <a:buNone/>
            </a:pPr>
            <a:r>
              <a:t>04 / 12</a:t>
            </a:r>
          </a:p>
        </p:txBody>
      </p:sp>
      <p:sp>
        <p:nvSpPr>
          <p:cNvPr id="8" name="Rectangle 7"/>
          <p:cNvSpPr/>
          <p:nvPr/>
        </p:nvSpPr>
        <p:spPr>
          <a:xfrm>
            <a:off x="685800" y="2377440"/>
            <a:ext cx="3264408" cy="548640"/>
          </a:xfrm>
          <a:prstGeom prst="rect">
            <a:avLst/>
          </a:prstGeom>
          <a:solidFill>
            <a:srgbClr val="2943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 y="2532888"/>
            <a:ext cx="2999232" cy="237744"/>
          </a:xfrm>
          <a:prstGeom prst="rect">
            <a:avLst/>
          </a:prstGeom>
          <a:noFill/>
        </p:spPr>
        <p:txBody>
          <a:bodyPr wrap="square" lIns="0" rIns="0" tIns="0" bIns="0" anchor="t">
            <a:spAutoFit/>
          </a:bodyPr>
          <a:lstStyle/>
          <a:p>
            <a:pPr algn="l">
              <a:lnSpc>
                <a:spcPct val="112000"/>
              </a:lnSpc>
              <a:spcAft>
                <a:spcPts val="0"/>
              </a:spcAft>
              <a:defRPr sz="1200" b="1">
                <a:solidFill>
                  <a:srgbClr val="54E1C1"/>
                </a:solidFill>
                <a:latin typeface="Noto Sans"/>
              </a:defRPr>
              <a:buNone/>
            </a:pPr>
            <a:r>
              <a:t>CAPABILITY</a:t>
            </a:r>
          </a:p>
        </p:txBody>
      </p:sp>
      <p:sp>
        <p:nvSpPr>
          <p:cNvPr id="10" name="Rectangle 9"/>
          <p:cNvSpPr/>
          <p:nvPr/>
        </p:nvSpPr>
        <p:spPr>
          <a:xfrm>
            <a:off x="3977639" y="2377440"/>
            <a:ext cx="3730752" cy="548640"/>
          </a:xfrm>
          <a:prstGeom prst="rect">
            <a:avLst/>
          </a:prstGeom>
          <a:solidFill>
            <a:srgbClr val="2943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23944" y="2532888"/>
            <a:ext cx="3465576" cy="237744"/>
          </a:xfrm>
          <a:prstGeom prst="rect">
            <a:avLst/>
          </a:prstGeom>
          <a:noFill/>
        </p:spPr>
        <p:txBody>
          <a:bodyPr wrap="square" lIns="0" rIns="0" tIns="0" bIns="0" anchor="t">
            <a:spAutoFit/>
          </a:bodyPr>
          <a:lstStyle/>
          <a:p>
            <a:pPr algn="l">
              <a:lnSpc>
                <a:spcPct val="112000"/>
              </a:lnSpc>
              <a:spcAft>
                <a:spcPts val="0"/>
              </a:spcAft>
              <a:defRPr sz="1200" b="1">
                <a:solidFill>
                  <a:srgbClr val="54E1C1"/>
                </a:solidFill>
                <a:latin typeface="Noto Sans"/>
              </a:defRPr>
              <a:buNone/>
            </a:pPr>
            <a:r>
              <a:t>EXISTING TOOLS</a:t>
            </a:r>
          </a:p>
        </p:txBody>
      </p:sp>
      <p:sp>
        <p:nvSpPr>
          <p:cNvPr id="12" name="Rectangle 11"/>
          <p:cNvSpPr/>
          <p:nvPr/>
        </p:nvSpPr>
        <p:spPr>
          <a:xfrm>
            <a:off x="7735824" y="2377440"/>
            <a:ext cx="3739896" cy="548640"/>
          </a:xfrm>
          <a:prstGeom prst="rect">
            <a:avLst/>
          </a:prstGeom>
          <a:solidFill>
            <a:srgbClr val="2943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82128" y="2532888"/>
            <a:ext cx="3474720" cy="237744"/>
          </a:xfrm>
          <a:prstGeom prst="rect">
            <a:avLst/>
          </a:prstGeom>
          <a:noFill/>
        </p:spPr>
        <p:txBody>
          <a:bodyPr wrap="square" lIns="0" rIns="0" tIns="0" bIns="0" anchor="t">
            <a:spAutoFit/>
          </a:bodyPr>
          <a:lstStyle/>
          <a:p>
            <a:pPr algn="l">
              <a:lnSpc>
                <a:spcPct val="112000"/>
              </a:lnSpc>
              <a:spcAft>
                <a:spcPts val="0"/>
              </a:spcAft>
              <a:defRPr sz="1200" b="1">
                <a:solidFill>
                  <a:srgbClr val="54E1C1"/>
                </a:solidFill>
                <a:latin typeface="Noto Sans"/>
              </a:defRPr>
              <a:buNone/>
            </a:pPr>
            <a:r>
              <a:t>CIPHER TODAY</a:t>
            </a:r>
          </a:p>
        </p:txBody>
      </p:sp>
      <p:sp>
        <p:nvSpPr>
          <p:cNvPr id="14" name="Rectangle 13"/>
          <p:cNvSpPr/>
          <p:nvPr/>
        </p:nvSpPr>
        <p:spPr>
          <a:xfrm>
            <a:off x="685800" y="2971800"/>
            <a:ext cx="3264408" cy="594360"/>
          </a:xfrm>
          <a:prstGeom prst="rect">
            <a:avLst/>
          </a:prstGeom>
          <a:solidFill>
            <a:srgbClr val="10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3118104"/>
            <a:ext cx="2999232" cy="393192"/>
          </a:xfrm>
          <a:prstGeom prst="rect">
            <a:avLst/>
          </a:prstGeom>
          <a:noFill/>
        </p:spPr>
        <p:txBody>
          <a:bodyPr wrap="square" lIns="0" rIns="0" tIns="0" bIns="0" anchor="t">
            <a:spAutoFit/>
          </a:bodyPr>
          <a:lstStyle/>
          <a:p>
            <a:pPr algn="l">
              <a:lnSpc>
                <a:spcPct val="112000"/>
              </a:lnSpc>
              <a:spcAft>
                <a:spcPts val="0"/>
              </a:spcAft>
              <a:defRPr sz="1700" b="1">
                <a:solidFill>
                  <a:srgbClr val="F3F7FC"/>
                </a:solidFill>
                <a:latin typeface="Noto Sans"/>
              </a:defRPr>
              <a:buNone/>
            </a:pPr>
            <a:r>
              <a:t>Packet rules</a:t>
            </a:r>
          </a:p>
        </p:txBody>
      </p:sp>
      <p:sp>
        <p:nvSpPr>
          <p:cNvPr id="16" name="Rectangle 15"/>
          <p:cNvSpPr/>
          <p:nvPr/>
        </p:nvSpPr>
        <p:spPr>
          <a:xfrm>
            <a:off x="3977639" y="2971800"/>
            <a:ext cx="3730752" cy="594360"/>
          </a:xfrm>
          <a:prstGeom prst="rect">
            <a:avLst/>
          </a:prstGeom>
          <a:solidFill>
            <a:srgbClr val="10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23944" y="3118104"/>
            <a:ext cx="3465576" cy="393192"/>
          </a:xfrm>
          <a:prstGeom prst="rect">
            <a:avLst/>
          </a:prstGeom>
          <a:noFill/>
        </p:spPr>
        <p:txBody>
          <a:bodyPr wrap="square" lIns="0" rIns="0" tIns="0" bIns="0" anchor="t">
            <a:spAutoFit/>
          </a:bodyPr>
          <a:lstStyle/>
          <a:p>
            <a:pPr algn="l">
              <a:lnSpc>
                <a:spcPct val="112000"/>
              </a:lnSpc>
              <a:spcAft>
                <a:spcPts val="0"/>
              </a:spcAft>
              <a:defRPr sz="1700" b="0">
                <a:solidFill>
                  <a:srgbClr val="F3F7FC"/>
                </a:solidFill>
                <a:latin typeface="Noto Sans"/>
              </a:defRPr>
              <a:buNone/>
            </a:pPr>
            <a:r>
              <a:t>Standard firewall function</a:t>
            </a:r>
          </a:p>
        </p:txBody>
      </p:sp>
      <p:sp>
        <p:nvSpPr>
          <p:cNvPr id="18" name="Rectangle 17"/>
          <p:cNvSpPr/>
          <p:nvPr/>
        </p:nvSpPr>
        <p:spPr>
          <a:xfrm>
            <a:off x="7735824" y="2971800"/>
            <a:ext cx="3739896" cy="594360"/>
          </a:xfrm>
          <a:prstGeom prst="rect">
            <a:avLst/>
          </a:prstGeom>
          <a:solidFill>
            <a:srgbClr val="10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8" y="3118104"/>
            <a:ext cx="3474720" cy="393192"/>
          </a:xfrm>
          <a:prstGeom prst="rect">
            <a:avLst/>
          </a:prstGeom>
          <a:noFill/>
        </p:spPr>
        <p:txBody>
          <a:bodyPr wrap="square" lIns="0" rIns="0" tIns="0" bIns="0" anchor="t">
            <a:spAutoFit/>
          </a:bodyPr>
          <a:lstStyle/>
          <a:p>
            <a:pPr algn="l">
              <a:lnSpc>
                <a:spcPct val="112000"/>
              </a:lnSpc>
              <a:spcAft>
                <a:spcPts val="0"/>
              </a:spcAft>
              <a:defRPr sz="1700" b="0">
                <a:solidFill>
                  <a:srgbClr val="FFBE73"/>
                </a:solidFill>
                <a:latin typeface="Noto Sans"/>
              </a:defRPr>
              <a:buNone/>
            </a:pPr>
            <a:r>
              <a:t>Implemented</a:t>
            </a:r>
          </a:p>
        </p:txBody>
      </p:sp>
      <p:sp>
        <p:nvSpPr>
          <p:cNvPr id="20" name="Rectangle 19"/>
          <p:cNvSpPr/>
          <p:nvPr/>
        </p:nvSpPr>
        <p:spPr>
          <a:xfrm>
            <a:off x="685800" y="3611880"/>
            <a:ext cx="3264408" cy="594360"/>
          </a:xfrm>
          <a:prstGeom prst="rect">
            <a:avLst/>
          </a:prstGeom>
          <a:solidFill>
            <a:srgbClr val="10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 y="3758184"/>
            <a:ext cx="2999232" cy="393192"/>
          </a:xfrm>
          <a:prstGeom prst="rect">
            <a:avLst/>
          </a:prstGeom>
          <a:noFill/>
        </p:spPr>
        <p:txBody>
          <a:bodyPr wrap="square" lIns="0" rIns="0" tIns="0" bIns="0" anchor="t">
            <a:spAutoFit/>
          </a:bodyPr>
          <a:lstStyle/>
          <a:p>
            <a:pPr algn="l">
              <a:lnSpc>
                <a:spcPct val="112000"/>
              </a:lnSpc>
              <a:spcAft>
                <a:spcPts val="0"/>
              </a:spcAft>
              <a:defRPr sz="1700" b="1">
                <a:solidFill>
                  <a:srgbClr val="F3F7FC"/>
                </a:solidFill>
                <a:latin typeface="Noto Sans"/>
              </a:defRPr>
              <a:buNone/>
            </a:pPr>
            <a:r>
              <a:t>Device anomalies</a:t>
            </a:r>
          </a:p>
        </p:txBody>
      </p:sp>
      <p:sp>
        <p:nvSpPr>
          <p:cNvPr id="22" name="Rectangle 21"/>
          <p:cNvSpPr/>
          <p:nvPr/>
        </p:nvSpPr>
        <p:spPr>
          <a:xfrm>
            <a:off x="3977639" y="3611880"/>
            <a:ext cx="3730752" cy="594360"/>
          </a:xfrm>
          <a:prstGeom prst="rect">
            <a:avLst/>
          </a:prstGeom>
          <a:solidFill>
            <a:srgbClr val="10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23944" y="3758184"/>
            <a:ext cx="3465576" cy="393192"/>
          </a:xfrm>
          <a:prstGeom prst="rect">
            <a:avLst/>
          </a:prstGeom>
          <a:noFill/>
        </p:spPr>
        <p:txBody>
          <a:bodyPr wrap="square" lIns="0" rIns="0" tIns="0" bIns="0" anchor="t">
            <a:spAutoFit/>
          </a:bodyPr>
          <a:lstStyle/>
          <a:p>
            <a:pPr algn="l">
              <a:lnSpc>
                <a:spcPct val="112000"/>
              </a:lnSpc>
              <a:spcAft>
                <a:spcPts val="0"/>
              </a:spcAft>
              <a:defRPr sz="1700" b="0">
                <a:solidFill>
                  <a:srgbClr val="F3F7FC"/>
                </a:solidFill>
                <a:latin typeface="Noto Sans"/>
              </a:defRPr>
              <a:buNone/>
            </a:pPr>
            <a:r>
              <a:t>Requires added analysis</a:t>
            </a:r>
          </a:p>
        </p:txBody>
      </p:sp>
      <p:sp>
        <p:nvSpPr>
          <p:cNvPr id="24" name="Rectangle 23"/>
          <p:cNvSpPr/>
          <p:nvPr/>
        </p:nvSpPr>
        <p:spPr>
          <a:xfrm>
            <a:off x="7735824" y="3611880"/>
            <a:ext cx="3739896" cy="594360"/>
          </a:xfrm>
          <a:prstGeom prst="rect">
            <a:avLst/>
          </a:prstGeom>
          <a:solidFill>
            <a:srgbClr val="10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82128" y="3758184"/>
            <a:ext cx="3474720" cy="393192"/>
          </a:xfrm>
          <a:prstGeom prst="rect">
            <a:avLst/>
          </a:prstGeom>
          <a:noFill/>
        </p:spPr>
        <p:txBody>
          <a:bodyPr wrap="square" lIns="0" rIns="0" tIns="0" bIns="0" anchor="t">
            <a:spAutoFit/>
          </a:bodyPr>
          <a:lstStyle/>
          <a:p>
            <a:pPr algn="l">
              <a:lnSpc>
                <a:spcPct val="112000"/>
              </a:lnSpc>
              <a:spcAft>
                <a:spcPts val="0"/>
              </a:spcAft>
              <a:defRPr sz="1700" b="0">
                <a:solidFill>
                  <a:srgbClr val="FFBE73"/>
                </a:solidFill>
                <a:latin typeface="Noto Sans"/>
              </a:defRPr>
              <a:buNone/>
            </a:pPr>
            <a:r>
              <a:t>Experimental</a:t>
            </a:r>
          </a:p>
        </p:txBody>
      </p:sp>
      <p:sp>
        <p:nvSpPr>
          <p:cNvPr id="26" name="Rectangle 25"/>
          <p:cNvSpPr/>
          <p:nvPr/>
        </p:nvSpPr>
        <p:spPr>
          <a:xfrm>
            <a:off x="685800" y="4251960"/>
            <a:ext cx="3264408" cy="594360"/>
          </a:xfrm>
          <a:prstGeom prst="rect">
            <a:avLst/>
          </a:prstGeom>
          <a:solidFill>
            <a:srgbClr val="10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 y="4398264"/>
            <a:ext cx="2999232" cy="393192"/>
          </a:xfrm>
          <a:prstGeom prst="rect">
            <a:avLst/>
          </a:prstGeom>
          <a:noFill/>
        </p:spPr>
        <p:txBody>
          <a:bodyPr wrap="square" lIns="0" rIns="0" tIns="0" bIns="0" anchor="t">
            <a:spAutoFit/>
          </a:bodyPr>
          <a:lstStyle/>
          <a:p>
            <a:pPr algn="l">
              <a:lnSpc>
                <a:spcPct val="112000"/>
              </a:lnSpc>
              <a:spcAft>
                <a:spcPts val="0"/>
              </a:spcAft>
              <a:defRPr sz="1700" b="1">
                <a:solidFill>
                  <a:srgbClr val="F3F7FC"/>
                </a:solidFill>
                <a:latin typeface="Noto Sans"/>
              </a:defRPr>
              <a:buNone/>
            </a:pPr>
            <a:r>
              <a:t>XDP acceleration</a:t>
            </a:r>
          </a:p>
        </p:txBody>
      </p:sp>
      <p:sp>
        <p:nvSpPr>
          <p:cNvPr id="28" name="Rectangle 27"/>
          <p:cNvSpPr/>
          <p:nvPr/>
        </p:nvSpPr>
        <p:spPr>
          <a:xfrm>
            <a:off x="3977639" y="4251960"/>
            <a:ext cx="3730752" cy="594360"/>
          </a:xfrm>
          <a:prstGeom prst="rect">
            <a:avLst/>
          </a:prstGeom>
          <a:solidFill>
            <a:srgbClr val="10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23944" y="4398264"/>
            <a:ext cx="3465576" cy="393192"/>
          </a:xfrm>
          <a:prstGeom prst="rect">
            <a:avLst/>
          </a:prstGeom>
          <a:noFill/>
        </p:spPr>
        <p:txBody>
          <a:bodyPr wrap="square" lIns="0" rIns="0" tIns="0" bIns="0" anchor="t">
            <a:spAutoFit/>
          </a:bodyPr>
          <a:lstStyle/>
          <a:p>
            <a:pPr algn="l">
              <a:lnSpc>
                <a:spcPct val="112000"/>
              </a:lnSpc>
              <a:spcAft>
                <a:spcPts val="0"/>
              </a:spcAft>
              <a:defRPr sz="1700" b="0">
                <a:solidFill>
                  <a:srgbClr val="F3F7FC"/>
                </a:solidFill>
                <a:latin typeface="Noto Sans"/>
              </a:defRPr>
              <a:buNone/>
            </a:pPr>
            <a:r>
              <a:t>Used by existing IPS</a:t>
            </a:r>
          </a:p>
        </p:txBody>
      </p:sp>
      <p:sp>
        <p:nvSpPr>
          <p:cNvPr id="30" name="Rectangle 29"/>
          <p:cNvSpPr/>
          <p:nvPr/>
        </p:nvSpPr>
        <p:spPr>
          <a:xfrm>
            <a:off x="7735824" y="4251960"/>
            <a:ext cx="3739896" cy="594360"/>
          </a:xfrm>
          <a:prstGeom prst="rect">
            <a:avLst/>
          </a:prstGeom>
          <a:solidFill>
            <a:srgbClr val="10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82128" y="4398264"/>
            <a:ext cx="3474720" cy="393192"/>
          </a:xfrm>
          <a:prstGeom prst="rect">
            <a:avLst/>
          </a:prstGeom>
          <a:noFill/>
        </p:spPr>
        <p:txBody>
          <a:bodyPr wrap="square" lIns="0" rIns="0" tIns="0" bIns="0" anchor="t">
            <a:spAutoFit/>
          </a:bodyPr>
          <a:lstStyle/>
          <a:p>
            <a:pPr algn="l">
              <a:lnSpc>
                <a:spcPct val="112000"/>
              </a:lnSpc>
              <a:spcAft>
                <a:spcPts val="0"/>
              </a:spcAft>
              <a:defRPr sz="1700" b="0">
                <a:solidFill>
                  <a:srgbClr val="FFBE73"/>
                </a:solidFill>
                <a:latin typeface="Noto Sans"/>
              </a:defRPr>
              <a:buNone/>
            </a:pPr>
            <a:r>
              <a:t>Generic mode</a:t>
            </a:r>
          </a:p>
        </p:txBody>
      </p:sp>
      <p:sp>
        <p:nvSpPr>
          <p:cNvPr id="32" name="Rectangle 31"/>
          <p:cNvSpPr/>
          <p:nvPr/>
        </p:nvSpPr>
        <p:spPr>
          <a:xfrm>
            <a:off x="685800" y="4892040"/>
            <a:ext cx="3264408" cy="594360"/>
          </a:xfrm>
          <a:prstGeom prst="rect">
            <a:avLst/>
          </a:prstGeom>
          <a:solidFill>
            <a:srgbClr val="10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 y="5038344"/>
            <a:ext cx="2999232" cy="393192"/>
          </a:xfrm>
          <a:prstGeom prst="rect">
            <a:avLst/>
          </a:prstGeom>
          <a:noFill/>
        </p:spPr>
        <p:txBody>
          <a:bodyPr wrap="square" lIns="0" rIns="0" tIns="0" bIns="0" anchor="t">
            <a:spAutoFit/>
          </a:bodyPr>
          <a:lstStyle/>
          <a:p>
            <a:pPr algn="l">
              <a:lnSpc>
                <a:spcPct val="112000"/>
              </a:lnSpc>
              <a:spcAft>
                <a:spcPts val="0"/>
              </a:spcAft>
              <a:defRPr sz="1700" b="1">
                <a:solidFill>
                  <a:srgbClr val="F3F7FC"/>
                </a:solidFill>
                <a:latin typeface="Noto Sans"/>
              </a:defRPr>
              <a:buNone/>
            </a:pPr>
            <a:r>
              <a:t>Comparative advantage</a:t>
            </a:r>
          </a:p>
        </p:txBody>
      </p:sp>
      <p:sp>
        <p:nvSpPr>
          <p:cNvPr id="34" name="Rectangle 33"/>
          <p:cNvSpPr/>
          <p:nvPr/>
        </p:nvSpPr>
        <p:spPr>
          <a:xfrm>
            <a:off x="3977639" y="4892040"/>
            <a:ext cx="3730752" cy="594360"/>
          </a:xfrm>
          <a:prstGeom prst="rect">
            <a:avLst/>
          </a:prstGeom>
          <a:solidFill>
            <a:srgbClr val="10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23944" y="5038344"/>
            <a:ext cx="3465576" cy="393192"/>
          </a:xfrm>
          <a:prstGeom prst="rect">
            <a:avLst/>
          </a:prstGeom>
          <a:noFill/>
        </p:spPr>
        <p:txBody>
          <a:bodyPr wrap="square" lIns="0" rIns="0" tIns="0" bIns="0" anchor="t">
            <a:spAutoFit/>
          </a:bodyPr>
          <a:lstStyle/>
          <a:p>
            <a:pPr algn="l">
              <a:lnSpc>
                <a:spcPct val="112000"/>
              </a:lnSpc>
              <a:spcAft>
                <a:spcPts val="0"/>
              </a:spcAft>
              <a:defRPr sz="1700" b="0">
                <a:solidFill>
                  <a:srgbClr val="F3F7FC"/>
                </a:solidFill>
                <a:latin typeface="Noto Sans"/>
              </a:defRPr>
              <a:buNone/>
            </a:pPr>
            <a:r>
              <a:t>Established alternatives</a:t>
            </a:r>
          </a:p>
        </p:txBody>
      </p:sp>
      <p:sp>
        <p:nvSpPr>
          <p:cNvPr id="36" name="Rectangle 35"/>
          <p:cNvSpPr/>
          <p:nvPr/>
        </p:nvSpPr>
        <p:spPr>
          <a:xfrm>
            <a:off x="7735824" y="4892040"/>
            <a:ext cx="3739896" cy="594360"/>
          </a:xfrm>
          <a:prstGeom prst="rect">
            <a:avLst/>
          </a:prstGeom>
          <a:solidFill>
            <a:srgbClr val="10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8" y="5038344"/>
            <a:ext cx="3474720" cy="393192"/>
          </a:xfrm>
          <a:prstGeom prst="rect">
            <a:avLst/>
          </a:prstGeom>
          <a:noFill/>
        </p:spPr>
        <p:txBody>
          <a:bodyPr wrap="square" lIns="0" rIns="0" tIns="0" bIns="0" anchor="t">
            <a:spAutoFit/>
          </a:bodyPr>
          <a:lstStyle/>
          <a:p>
            <a:pPr algn="l">
              <a:lnSpc>
                <a:spcPct val="112000"/>
              </a:lnSpc>
              <a:spcAft>
                <a:spcPts val="0"/>
              </a:spcAft>
              <a:defRPr sz="1700" b="0">
                <a:solidFill>
                  <a:srgbClr val="FFBE73"/>
                </a:solidFill>
                <a:latin typeface="Noto Sans"/>
              </a:defRPr>
              <a:buNone/>
            </a:pPr>
            <a:r>
              <a:t>Unproven</a:t>
            </a:r>
          </a:p>
        </p:txBody>
      </p:sp>
      <p:sp>
        <p:nvSpPr>
          <p:cNvPr id="38" name="TextBox 37"/>
          <p:cNvSpPr txBox="1"/>
          <p:nvPr/>
        </p:nvSpPr>
        <p:spPr>
          <a:xfrm>
            <a:off x="731520" y="5934456"/>
            <a:ext cx="10789920" cy="228600"/>
          </a:xfrm>
          <a:prstGeom prst="rect">
            <a:avLst/>
          </a:prstGeom>
          <a:noFill/>
        </p:spPr>
        <p:txBody>
          <a:bodyPr wrap="square" lIns="0" rIns="0" tIns="0" bIns="0" anchor="t">
            <a:spAutoFit/>
          </a:bodyPr>
          <a:lstStyle/>
          <a:p>
            <a:pPr algn="l">
              <a:lnSpc>
                <a:spcPct val="112000"/>
              </a:lnSpc>
              <a:spcAft>
                <a:spcPts val="0"/>
              </a:spcAft>
              <a:defRPr sz="1100" b="0">
                <a:solidFill>
                  <a:srgbClr val="AFC1D3"/>
                </a:solidFill>
                <a:latin typeface="Noto Sans"/>
              </a:defRPr>
              <a:buNone/>
            </a:pPr>
            <a:r>
              <a:t>Sources: nftables and Suricata documentation; local code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Title 1"/>
          <p:cNvSpPr>
            <a:spLocks noGrp="1"/>
          </p:cNvSpPr>
          <p:nvPr>
            <p:ph type="title"/>
          </p:nvPr>
        </p:nvSpPr>
        <p:spPr>
          <a:xfrm>
            <a:off x="685800" y="932688"/>
            <a:ext cx="10789920" cy="1188720"/>
          </a:xfrm>
        </p:spPr>
        <p:txBody>
          <a:bodyPr wrap="square" lIns="0" rIns="0" tIns="0" bIns="0" anchor="t"/>
          <a:lstStyle/>
          <a:p>
            <a:pPr algn="l">
              <a:lnSpc>
                <a:spcPct val="112000"/>
              </a:lnSpc>
              <a:spcAft>
                <a:spcPts val="0"/>
              </a:spcAft>
              <a:defRPr sz="3400" b="1">
                <a:solidFill>
                  <a:srgbClr val="F3F7FC"/>
                </a:solidFill>
                <a:latin typeface="Noto Sans"/>
              </a:defRPr>
              <a:buNone/>
            </a:pPr>
            <a:r>
              <a:t>Keep packet handling separate from analysis.</a:t>
            </a:r>
          </a:p>
        </p:txBody>
      </p:sp>
      <p:sp>
        <p:nvSpPr>
          <p:cNvPr id="3" name="Rectangle 2"/>
          <p:cNvSpPr/>
          <p:nvPr/>
        </p:nvSpPr>
        <p:spPr>
          <a:xfrm>
            <a:off x="502920" y="438912"/>
            <a:ext cx="91440" cy="1828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29768"/>
            <a:ext cx="10698480" cy="228600"/>
          </a:xfrm>
          <a:prstGeom prst="rect">
            <a:avLst/>
          </a:prstGeom>
          <a:noFill/>
        </p:spPr>
        <p:txBody>
          <a:bodyPr wrap="square" lIns="0" rIns="0" tIns="0" bIns="0" anchor="t">
            <a:spAutoFit/>
          </a:bodyPr>
          <a:lstStyle/>
          <a:p>
            <a:pPr algn="l">
              <a:lnSpc>
                <a:spcPct val="112000"/>
              </a:lnSpc>
              <a:spcAft>
                <a:spcPts val="0"/>
              </a:spcAft>
              <a:defRPr sz="1100" b="1">
                <a:solidFill>
                  <a:srgbClr val="54E1C1"/>
                </a:solidFill>
                <a:latin typeface="Noto Sans"/>
              </a:defRPr>
              <a:buNone/>
            </a:pPr>
            <a:r>
              <a:t>05 / TECHNICAL ARCHITECTURE</a:t>
            </a:r>
          </a:p>
        </p:txBody>
      </p:sp>
      <p:cxnSp>
        <p:nvCxnSpPr>
          <p:cNvPr id="5" name="Connector 4"/>
          <p:cNvCxnSpPr/>
          <p:nvPr/>
        </p:nvCxnSpPr>
        <p:spPr>
          <a:xfrm>
            <a:off x="685800" y="6364224"/>
            <a:ext cx="10817352" cy="0"/>
          </a:xfrm>
          <a:prstGeom prst="line">
            <a:avLst/>
          </a:prstGeom>
          <a:ln w="19050">
            <a:solidFill>
              <a:srgbClr val="2943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510528"/>
            <a:ext cx="6400800" cy="182880"/>
          </a:xfrm>
          <a:prstGeom prst="rect">
            <a:avLst/>
          </a:prstGeom>
          <a:noFill/>
        </p:spPr>
        <p:txBody>
          <a:bodyPr wrap="square" lIns="0" rIns="0" tIns="0" bIns="0" anchor="t">
            <a:spAutoFit/>
          </a:bodyPr>
          <a:lstStyle/>
          <a:p>
            <a:pPr algn="l">
              <a:lnSpc>
                <a:spcPct val="112000"/>
              </a:lnSpc>
              <a:spcAft>
                <a:spcPts val="0"/>
              </a:spcAft>
              <a:defRPr sz="900" b="0">
                <a:solidFill>
                  <a:srgbClr val="AFC1D3"/>
                </a:solidFill>
                <a:latin typeface="Noto Sans"/>
              </a:defRPr>
              <a:buNone/>
            </a:pPr>
            <a:r>
              <a:t>CIPHER  /  STARTUP ALLEY</a:t>
            </a:r>
          </a:p>
        </p:txBody>
      </p:sp>
      <p:sp>
        <p:nvSpPr>
          <p:cNvPr id="7" name="TextBox 6"/>
          <p:cNvSpPr txBox="1"/>
          <p:nvPr/>
        </p:nvSpPr>
        <p:spPr>
          <a:xfrm>
            <a:off x="10561320" y="6492240"/>
            <a:ext cx="941832" cy="210312"/>
          </a:xfrm>
          <a:prstGeom prst="rect">
            <a:avLst/>
          </a:prstGeom>
          <a:noFill/>
        </p:spPr>
        <p:txBody>
          <a:bodyPr wrap="square" lIns="0" rIns="0" tIns="0" bIns="0" anchor="t">
            <a:spAutoFit/>
          </a:bodyPr>
          <a:lstStyle/>
          <a:p>
            <a:pPr algn="r">
              <a:lnSpc>
                <a:spcPct val="112000"/>
              </a:lnSpc>
              <a:spcAft>
                <a:spcPts val="0"/>
              </a:spcAft>
              <a:defRPr sz="1000" b="0">
                <a:solidFill>
                  <a:srgbClr val="AFC1D3"/>
                </a:solidFill>
                <a:latin typeface="JetBrains Mono"/>
              </a:defRPr>
              <a:buNone/>
            </a:pPr>
            <a:r>
              <a:t>05 / 12</a:t>
            </a:r>
          </a:p>
        </p:txBody>
      </p:sp>
      <p:sp>
        <p:nvSpPr>
          <p:cNvPr id="8" name="Rounded Rectangle 7"/>
          <p:cNvSpPr/>
          <p:nvPr/>
        </p:nvSpPr>
        <p:spPr>
          <a:xfrm>
            <a:off x="685800" y="2423160"/>
            <a:ext cx="3291840" cy="315468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651760"/>
            <a:ext cx="36576" cy="26974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2852928" cy="548640"/>
          </a:xfrm>
          <a:prstGeom prst="rect">
            <a:avLst/>
          </a:prstGeom>
          <a:noFill/>
        </p:spPr>
        <p:txBody>
          <a:bodyPr wrap="square" lIns="0" rIns="0" tIns="0" bIns="0" anchor="t">
            <a:spAutoFit/>
          </a:bodyPr>
          <a:lstStyle/>
          <a:p>
            <a:pPr algn="l">
              <a:lnSpc>
                <a:spcPct val="112000"/>
              </a:lnSpc>
              <a:spcAft>
                <a:spcPts val="0"/>
              </a:spcAft>
              <a:defRPr sz="3000" b="1">
                <a:solidFill>
                  <a:srgbClr val="54E1C1"/>
                </a:solidFill>
                <a:latin typeface="JetBrains Mono"/>
              </a:defRPr>
              <a:buNone/>
            </a:pPr>
            <a:r>
              <a:t>DATA</a:t>
            </a:r>
          </a:p>
        </p:txBody>
      </p:sp>
      <p:sp>
        <p:nvSpPr>
          <p:cNvPr id="11" name="TextBox 10"/>
          <p:cNvSpPr txBox="1"/>
          <p:nvPr/>
        </p:nvSpPr>
        <p:spPr>
          <a:xfrm>
            <a:off x="914400" y="3383280"/>
            <a:ext cx="2834640" cy="777240"/>
          </a:xfrm>
          <a:prstGeom prst="rect">
            <a:avLst/>
          </a:prstGeom>
          <a:noFill/>
        </p:spPr>
        <p:txBody>
          <a:bodyPr wrap="square" lIns="0" rIns="0" tIns="0" bIns="0" anchor="t">
            <a:spAutoFit/>
          </a:bodyPr>
          <a:lstStyle/>
          <a:p>
            <a:pPr algn="l">
              <a:lnSpc>
                <a:spcPct val="112000"/>
              </a:lnSpc>
              <a:spcAft>
                <a:spcPts val="0"/>
              </a:spcAft>
              <a:defRPr sz="2200" b="1">
                <a:solidFill>
                  <a:srgbClr val="54E1C1"/>
                </a:solidFill>
                <a:latin typeface="Noto Sans"/>
              </a:defRPr>
              <a:buNone/>
            </a:pPr>
            <a:r>
              <a:t>eBPF / XDP</a:t>
            </a:r>
          </a:p>
        </p:txBody>
      </p:sp>
      <p:sp>
        <p:nvSpPr>
          <p:cNvPr id="12" name="TextBox 11"/>
          <p:cNvSpPr txBox="1"/>
          <p:nvPr/>
        </p:nvSpPr>
        <p:spPr>
          <a:xfrm>
            <a:off x="914400" y="4325112"/>
            <a:ext cx="283464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Kernel enforcement</a:t>
            </a:r>
          </a:p>
        </p:txBody>
      </p:sp>
      <p:sp>
        <p:nvSpPr>
          <p:cNvPr id="13" name="Chevron 12"/>
          <p:cNvSpPr/>
          <p:nvPr/>
        </p:nvSpPr>
        <p:spPr>
          <a:xfrm>
            <a:off x="4069080" y="3685032"/>
            <a:ext cx="256032" cy="347472"/>
          </a:xfrm>
          <a:prstGeom prst="chevron">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43984" y="2423160"/>
            <a:ext cx="3291840" cy="315468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43984" y="2651760"/>
            <a:ext cx="36576" cy="2697480"/>
          </a:xfrm>
          <a:prstGeom prst="rect">
            <a:avLst/>
          </a:prstGeom>
          <a:solidFill>
            <a:srgbClr val="73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63440" y="2651760"/>
            <a:ext cx="2852928" cy="548640"/>
          </a:xfrm>
          <a:prstGeom prst="rect">
            <a:avLst/>
          </a:prstGeom>
          <a:noFill/>
        </p:spPr>
        <p:txBody>
          <a:bodyPr wrap="square" lIns="0" rIns="0" tIns="0" bIns="0" anchor="t">
            <a:spAutoFit/>
          </a:bodyPr>
          <a:lstStyle/>
          <a:p>
            <a:pPr algn="l">
              <a:lnSpc>
                <a:spcPct val="112000"/>
              </a:lnSpc>
              <a:spcAft>
                <a:spcPts val="0"/>
              </a:spcAft>
              <a:defRPr sz="3000" b="1">
                <a:solidFill>
                  <a:srgbClr val="73B9FF"/>
                </a:solidFill>
                <a:latin typeface="JetBrains Mono"/>
              </a:defRPr>
              <a:buNone/>
            </a:pPr>
            <a:r>
              <a:t>EDGE</a:t>
            </a:r>
          </a:p>
        </p:txBody>
      </p:sp>
      <p:sp>
        <p:nvSpPr>
          <p:cNvPr id="17" name="TextBox 16"/>
          <p:cNvSpPr txBox="1"/>
          <p:nvPr/>
        </p:nvSpPr>
        <p:spPr>
          <a:xfrm>
            <a:off x="4672584" y="3383280"/>
            <a:ext cx="2834640" cy="777240"/>
          </a:xfrm>
          <a:prstGeom prst="rect">
            <a:avLst/>
          </a:prstGeom>
          <a:noFill/>
        </p:spPr>
        <p:txBody>
          <a:bodyPr wrap="square" lIns="0" rIns="0" tIns="0" bIns="0" anchor="t">
            <a:spAutoFit/>
          </a:bodyPr>
          <a:lstStyle/>
          <a:p>
            <a:pPr algn="l">
              <a:lnSpc>
                <a:spcPct val="112000"/>
              </a:lnSpc>
              <a:spcAft>
                <a:spcPts val="0"/>
              </a:spcAft>
              <a:defRPr sz="2200" b="1">
                <a:solidFill>
                  <a:srgbClr val="73B9FF"/>
                </a:solidFill>
                <a:latin typeface="Noto Sans"/>
              </a:defRPr>
              <a:buNone/>
            </a:pPr>
            <a:r>
              <a:t>Rust daemon</a:t>
            </a:r>
          </a:p>
        </p:txBody>
      </p:sp>
      <p:sp>
        <p:nvSpPr>
          <p:cNvPr id="18" name="TextBox 17"/>
          <p:cNvSpPr txBox="1"/>
          <p:nvPr/>
        </p:nvSpPr>
        <p:spPr>
          <a:xfrm>
            <a:off x="4672584" y="4325112"/>
            <a:ext cx="283464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Metadata aggregation</a:t>
            </a:r>
          </a:p>
        </p:txBody>
      </p:sp>
      <p:sp>
        <p:nvSpPr>
          <p:cNvPr id="19" name="Chevron 18"/>
          <p:cNvSpPr/>
          <p:nvPr/>
        </p:nvSpPr>
        <p:spPr>
          <a:xfrm>
            <a:off x="7836408" y="3685032"/>
            <a:ext cx="256032" cy="347472"/>
          </a:xfrm>
          <a:prstGeom prst="chevron">
            <a:avLst/>
          </a:prstGeom>
          <a:solidFill>
            <a:srgbClr val="73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211312" y="2423160"/>
            <a:ext cx="3291840" cy="315468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11312" y="2651760"/>
            <a:ext cx="36576" cy="2697480"/>
          </a:xfrm>
          <a:prstGeom prst="rect">
            <a:avLst/>
          </a:prstGeom>
          <a:solidFill>
            <a:srgbClr val="73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30768" y="2651760"/>
            <a:ext cx="2852928" cy="548640"/>
          </a:xfrm>
          <a:prstGeom prst="rect">
            <a:avLst/>
          </a:prstGeom>
          <a:noFill/>
        </p:spPr>
        <p:txBody>
          <a:bodyPr wrap="square" lIns="0" rIns="0" tIns="0" bIns="0" anchor="t">
            <a:spAutoFit/>
          </a:bodyPr>
          <a:lstStyle/>
          <a:p>
            <a:pPr algn="l">
              <a:lnSpc>
                <a:spcPct val="112000"/>
              </a:lnSpc>
              <a:spcAft>
                <a:spcPts val="0"/>
              </a:spcAft>
              <a:defRPr sz="3000" b="1">
                <a:solidFill>
                  <a:srgbClr val="73B9FF"/>
                </a:solidFill>
                <a:latin typeface="JetBrains Mono"/>
              </a:defRPr>
              <a:buNone/>
            </a:pPr>
            <a:r>
              <a:t>SERVER</a:t>
            </a:r>
          </a:p>
        </p:txBody>
      </p:sp>
      <p:sp>
        <p:nvSpPr>
          <p:cNvPr id="23" name="TextBox 22"/>
          <p:cNvSpPr txBox="1"/>
          <p:nvPr/>
        </p:nvSpPr>
        <p:spPr>
          <a:xfrm>
            <a:off x="8439912" y="3383280"/>
            <a:ext cx="2834640" cy="777240"/>
          </a:xfrm>
          <a:prstGeom prst="rect">
            <a:avLst/>
          </a:prstGeom>
          <a:noFill/>
        </p:spPr>
        <p:txBody>
          <a:bodyPr wrap="square" lIns="0" rIns="0" tIns="0" bIns="0" anchor="t">
            <a:spAutoFit/>
          </a:bodyPr>
          <a:lstStyle/>
          <a:p>
            <a:pPr algn="l">
              <a:lnSpc>
                <a:spcPct val="112000"/>
              </a:lnSpc>
              <a:spcAft>
                <a:spcPts val="0"/>
              </a:spcAft>
              <a:defRPr sz="2200" b="1">
                <a:solidFill>
                  <a:srgbClr val="73B9FF"/>
                </a:solidFill>
                <a:latin typeface="Noto Sans"/>
              </a:defRPr>
              <a:buNone/>
            </a:pPr>
            <a:r>
              <a:t>Axum server</a:t>
            </a:r>
          </a:p>
        </p:txBody>
      </p:sp>
      <p:sp>
        <p:nvSpPr>
          <p:cNvPr id="24" name="TextBox 23"/>
          <p:cNvSpPr txBox="1"/>
          <p:nvPr/>
        </p:nvSpPr>
        <p:spPr>
          <a:xfrm>
            <a:off x="8439912" y="4325112"/>
            <a:ext cx="283464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Statistical analysis</a:t>
            </a:r>
          </a:p>
        </p:txBody>
      </p:sp>
      <p:sp>
        <p:nvSpPr>
          <p:cNvPr id="25" name="TextBox 24"/>
          <p:cNvSpPr txBox="1"/>
          <p:nvPr/>
        </p:nvSpPr>
        <p:spPr>
          <a:xfrm>
            <a:off x="731520" y="5934456"/>
            <a:ext cx="10789920" cy="228600"/>
          </a:xfrm>
          <a:prstGeom prst="rect">
            <a:avLst/>
          </a:prstGeom>
          <a:noFill/>
        </p:spPr>
        <p:txBody>
          <a:bodyPr wrap="square" lIns="0" rIns="0" tIns="0" bIns="0" anchor="t">
            <a:spAutoFit/>
          </a:bodyPr>
          <a:lstStyle/>
          <a:p>
            <a:pPr algn="l">
              <a:lnSpc>
                <a:spcPct val="112000"/>
              </a:lnSpc>
              <a:spcAft>
                <a:spcPts val="0"/>
              </a:spcAft>
              <a:defRPr sz="1200" b="0">
                <a:solidFill>
                  <a:srgbClr val="AFC1D3"/>
                </a:solidFill>
                <a:latin typeface="Noto Sans"/>
              </a:defRPr>
              <a:buNone/>
            </a:pPr>
            <a:r>
              <a:t>Generic XDP today. Throughput and latency require benchmarks.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Title 1"/>
          <p:cNvSpPr>
            <a:spLocks noGrp="1"/>
          </p:cNvSpPr>
          <p:nvPr>
            <p:ph type="title"/>
          </p:nvPr>
        </p:nvSpPr>
        <p:spPr>
          <a:xfrm>
            <a:off x="685800" y="932688"/>
            <a:ext cx="10789920" cy="1188720"/>
          </a:xfrm>
        </p:spPr>
        <p:txBody>
          <a:bodyPr wrap="square" lIns="0" rIns="0" tIns="0" bIns="0" anchor="t"/>
          <a:lstStyle/>
          <a:p>
            <a:pPr algn="l">
              <a:lnSpc>
                <a:spcPct val="112000"/>
              </a:lnSpc>
              <a:spcAft>
                <a:spcPts val="0"/>
              </a:spcAft>
              <a:defRPr sz="3400" b="1">
                <a:solidFill>
                  <a:srgbClr val="F3F7FC"/>
                </a:solidFill>
                <a:latin typeface="Noto Sans"/>
              </a:defRPr>
              <a:buNone/>
            </a:pPr>
            <a:r>
              <a:t>Test whether AI improves decisions.</a:t>
            </a:r>
          </a:p>
        </p:txBody>
      </p:sp>
      <p:sp>
        <p:nvSpPr>
          <p:cNvPr id="3" name="Rectangle 2"/>
          <p:cNvSpPr/>
          <p:nvPr/>
        </p:nvSpPr>
        <p:spPr>
          <a:xfrm>
            <a:off x="502920" y="438912"/>
            <a:ext cx="91440" cy="1828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29768"/>
            <a:ext cx="10698480" cy="228600"/>
          </a:xfrm>
          <a:prstGeom prst="rect">
            <a:avLst/>
          </a:prstGeom>
          <a:noFill/>
        </p:spPr>
        <p:txBody>
          <a:bodyPr wrap="square" lIns="0" rIns="0" tIns="0" bIns="0" anchor="t">
            <a:spAutoFit/>
          </a:bodyPr>
          <a:lstStyle/>
          <a:p>
            <a:pPr algn="l">
              <a:lnSpc>
                <a:spcPct val="112000"/>
              </a:lnSpc>
              <a:spcAft>
                <a:spcPts val="0"/>
              </a:spcAft>
              <a:defRPr sz="1100" b="1">
                <a:solidFill>
                  <a:srgbClr val="54E1C1"/>
                </a:solidFill>
                <a:latin typeface="Noto Sans"/>
              </a:defRPr>
              <a:buNone/>
            </a:pPr>
            <a:r>
              <a:t>06 / DETECTION HYPOTHESIS</a:t>
            </a:r>
          </a:p>
        </p:txBody>
      </p:sp>
      <p:cxnSp>
        <p:nvCxnSpPr>
          <p:cNvPr id="5" name="Connector 4"/>
          <p:cNvCxnSpPr/>
          <p:nvPr/>
        </p:nvCxnSpPr>
        <p:spPr>
          <a:xfrm>
            <a:off x="685800" y="6364224"/>
            <a:ext cx="10817352" cy="0"/>
          </a:xfrm>
          <a:prstGeom prst="line">
            <a:avLst/>
          </a:prstGeom>
          <a:ln w="19050">
            <a:solidFill>
              <a:srgbClr val="2943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510528"/>
            <a:ext cx="6400800" cy="182880"/>
          </a:xfrm>
          <a:prstGeom prst="rect">
            <a:avLst/>
          </a:prstGeom>
          <a:noFill/>
        </p:spPr>
        <p:txBody>
          <a:bodyPr wrap="square" lIns="0" rIns="0" tIns="0" bIns="0" anchor="t">
            <a:spAutoFit/>
          </a:bodyPr>
          <a:lstStyle/>
          <a:p>
            <a:pPr algn="l">
              <a:lnSpc>
                <a:spcPct val="112000"/>
              </a:lnSpc>
              <a:spcAft>
                <a:spcPts val="0"/>
              </a:spcAft>
              <a:defRPr sz="900" b="0">
                <a:solidFill>
                  <a:srgbClr val="AFC1D3"/>
                </a:solidFill>
                <a:latin typeface="Noto Sans"/>
              </a:defRPr>
              <a:buNone/>
            </a:pPr>
            <a:r>
              <a:t>CIPHER  /  STARTUP ALLEY</a:t>
            </a:r>
          </a:p>
        </p:txBody>
      </p:sp>
      <p:sp>
        <p:nvSpPr>
          <p:cNvPr id="7" name="TextBox 6"/>
          <p:cNvSpPr txBox="1"/>
          <p:nvPr/>
        </p:nvSpPr>
        <p:spPr>
          <a:xfrm>
            <a:off x="10561320" y="6492240"/>
            <a:ext cx="941832" cy="210312"/>
          </a:xfrm>
          <a:prstGeom prst="rect">
            <a:avLst/>
          </a:prstGeom>
          <a:noFill/>
        </p:spPr>
        <p:txBody>
          <a:bodyPr wrap="square" lIns="0" rIns="0" tIns="0" bIns="0" anchor="t">
            <a:spAutoFit/>
          </a:bodyPr>
          <a:lstStyle/>
          <a:p>
            <a:pPr algn="r">
              <a:lnSpc>
                <a:spcPct val="112000"/>
              </a:lnSpc>
              <a:spcAft>
                <a:spcPts val="0"/>
              </a:spcAft>
              <a:defRPr sz="1000" b="0">
                <a:solidFill>
                  <a:srgbClr val="AFC1D3"/>
                </a:solidFill>
                <a:latin typeface="JetBrains Mono"/>
              </a:defRPr>
              <a:buNone/>
            </a:pPr>
            <a:r>
              <a:t>06 / 12</a:t>
            </a:r>
          </a:p>
        </p:txBody>
      </p:sp>
      <p:sp>
        <p:nvSpPr>
          <p:cNvPr id="8" name="Rounded Rectangle 7"/>
          <p:cNvSpPr/>
          <p:nvPr/>
        </p:nvSpPr>
        <p:spPr>
          <a:xfrm>
            <a:off x="685800" y="2423160"/>
            <a:ext cx="5120640" cy="315468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651760"/>
            <a:ext cx="36576" cy="26974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43200"/>
            <a:ext cx="4663440" cy="777240"/>
          </a:xfrm>
          <a:prstGeom prst="rect">
            <a:avLst/>
          </a:prstGeom>
          <a:noFill/>
        </p:spPr>
        <p:txBody>
          <a:bodyPr wrap="square" lIns="0" rIns="0" tIns="0" bIns="0" anchor="t">
            <a:spAutoFit/>
          </a:bodyPr>
          <a:lstStyle/>
          <a:p>
            <a:pPr algn="l">
              <a:lnSpc>
                <a:spcPct val="112000"/>
              </a:lnSpc>
              <a:spcAft>
                <a:spcPts val="0"/>
              </a:spcAft>
              <a:defRPr sz="2200" b="1">
                <a:solidFill>
                  <a:srgbClr val="54E1C1"/>
                </a:solidFill>
                <a:latin typeface="Noto Sans"/>
              </a:defRPr>
              <a:buNone/>
            </a:pPr>
            <a:r>
              <a:t>Z-score screening</a:t>
            </a:r>
          </a:p>
        </p:txBody>
      </p:sp>
      <p:sp>
        <p:nvSpPr>
          <p:cNvPr id="11" name="TextBox 10"/>
          <p:cNvSpPr txBox="1"/>
          <p:nvPr/>
        </p:nvSpPr>
        <p:spPr>
          <a:xfrm>
            <a:off x="914400" y="3685032"/>
            <a:ext cx="466344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Four telemetry features</a:t>
            </a:r>
          </a:p>
        </p:txBody>
      </p:sp>
      <p:sp>
        <p:nvSpPr>
          <p:cNvPr id="12" name="TextBox 11"/>
          <p:cNvSpPr txBox="1"/>
          <p:nvPr/>
        </p:nvSpPr>
        <p:spPr>
          <a:xfrm>
            <a:off x="914400" y="4416552"/>
            <a:ext cx="466344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Saved baseline + reset</a:t>
            </a:r>
          </a:p>
        </p:txBody>
      </p:sp>
      <p:sp>
        <p:nvSpPr>
          <p:cNvPr id="13" name="Chevron 12"/>
          <p:cNvSpPr/>
          <p:nvPr/>
        </p:nvSpPr>
        <p:spPr>
          <a:xfrm>
            <a:off x="5961888" y="3602736"/>
            <a:ext cx="256032" cy="347472"/>
          </a:xfrm>
          <a:prstGeom prst="chevron">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82512" y="2423160"/>
            <a:ext cx="5120640" cy="315468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82512" y="2651760"/>
            <a:ext cx="36576" cy="2697480"/>
          </a:xfrm>
          <a:prstGeom prst="rect">
            <a:avLst/>
          </a:prstGeom>
          <a:solidFill>
            <a:srgbClr val="FFB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11112" y="2743200"/>
            <a:ext cx="4663440" cy="777240"/>
          </a:xfrm>
          <a:prstGeom prst="rect">
            <a:avLst/>
          </a:prstGeom>
          <a:noFill/>
        </p:spPr>
        <p:txBody>
          <a:bodyPr wrap="square" lIns="0" rIns="0" tIns="0" bIns="0" anchor="t">
            <a:spAutoFit/>
          </a:bodyPr>
          <a:lstStyle/>
          <a:p>
            <a:pPr algn="l">
              <a:lnSpc>
                <a:spcPct val="112000"/>
              </a:lnSpc>
              <a:spcAft>
                <a:spcPts val="0"/>
              </a:spcAft>
              <a:defRPr sz="2200" b="1">
                <a:solidFill>
                  <a:srgbClr val="FFBE73"/>
                </a:solidFill>
                <a:latin typeface="Noto Sans"/>
              </a:defRPr>
              <a:buNone/>
            </a:pPr>
            <a:r>
              <a:t>LLM review</a:t>
            </a:r>
          </a:p>
        </p:txBody>
      </p:sp>
      <p:sp>
        <p:nvSpPr>
          <p:cNvPr id="17" name="TextBox 16"/>
          <p:cNvSpPr txBox="1"/>
          <p:nvPr/>
        </p:nvSpPr>
        <p:spPr>
          <a:xfrm>
            <a:off x="6611112" y="3685032"/>
            <a:ext cx="466344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Baseline + recent reports</a:t>
            </a:r>
          </a:p>
        </p:txBody>
      </p:sp>
      <p:sp>
        <p:nvSpPr>
          <p:cNvPr id="18" name="TextBox 17"/>
          <p:cNvSpPr txBox="1"/>
          <p:nvPr/>
        </p:nvSpPr>
        <p:spPr>
          <a:xfrm>
            <a:off x="6611112" y="4416552"/>
            <a:ext cx="466344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Advisory by default</a:t>
            </a:r>
          </a:p>
        </p:txBody>
      </p:sp>
      <p:sp>
        <p:nvSpPr>
          <p:cNvPr id="19" name="TextBox 18"/>
          <p:cNvSpPr txBox="1"/>
          <p:nvPr/>
        </p:nvSpPr>
        <p:spPr>
          <a:xfrm>
            <a:off x="731520" y="5934456"/>
            <a:ext cx="10789920" cy="228600"/>
          </a:xfrm>
          <a:prstGeom prst="rect">
            <a:avLst/>
          </a:prstGeom>
          <a:noFill/>
        </p:spPr>
        <p:txBody>
          <a:bodyPr wrap="square" lIns="0" rIns="0" tIns="0" bIns="0" anchor="t">
            <a:spAutoFit/>
          </a:bodyPr>
          <a:lstStyle/>
          <a:p>
            <a:pPr algn="l">
              <a:lnSpc>
                <a:spcPct val="112000"/>
              </a:lnSpc>
              <a:spcAft>
                <a:spcPts val="0"/>
              </a:spcAft>
              <a:defRPr sz="1200" b="0">
                <a:solidFill>
                  <a:srgbClr val="AFC1D3"/>
                </a:solidFill>
                <a:latin typeface="Noto Sans"/>
              </a:defRPr>
              <a:buNone/>
            </a:pPr>
            <a:r>
              <a:t>Anthropic + compatible APIs. Offline booth uses scripted responses.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Title 1"/>
          <p:cNvSpPr>
            <a:spLocks noGrp="1"/>
          </p:cNvSpPr>
          <p:nvPr>
            <p:ph type="title"/>
          </p:nvPr>
        </p:nvSpPr>
        <p:spPr>
          <a:xfrm>
            <a:off x="685800" y="932688"/>
            <a:ext cx="10789920" cy="1188720"/>
          </a:xfrm>
        </p:spPr>
        <p:txBody>
          <a:bodyPr wrap="square" lIns="0" rIns="0" tIns="0" bIns="0" anchor="t"/>
          <a:lstStyle/>
          <a:p>
            <a:pPr algn="l">
              <a:lnSpc>
                <a:spcPct val="112000"/>
              </a:lnSpc>
              <a:spcAft>
                <a:spcPts val="0"/>
              </a:spcAft>
              <a:defRPr sz="3400" b="1">
                <a:solidFill>
                  <a:srgbClr val="F3F7FC"/>
                </a:solidFill>
                <a:latin typeface="Noto Sans"/>
              </a:defRPr>
              <a:buNone/>
            </a:pPr>
            <a:r>
              <a:t>Alerts stay visible. Operators stay in control.</a:t>
            </a:r>
          </a:p>
        </p:txBody>
      </p:sp>
      <p:sp>
        <p:nvSpPr>
          <p:cNvPr id="3" name="Rectangle 2"/>
          <p:cNvSpPr/>
          <p:nvPr/>
        </p:nvSpPr>
        <p:spPr>
          <a:xfrm>
            <a:off x="502920" y="438912"/>
            <a:ext cx="91440" cy="1828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29768"/>
            <a:ext cx="10698480" cy="228600"/>
          </a:xfrm>
          <a:prstGeom prst="rect">
            <a:avLst/>
          </a:prstGeom>
          <a:noFill/>
        </p:spPr>
        <p:txBody>
          <a:bodyPr wrap="square" lIns="0" rIns="0" tIns="0" bIns="0" anchor="t">
            <a:spAutoFit/>
          </a:bodyPr>
          <a:lstStyle/>
          <a:p>
            <a:pPr algn="l">
              <a:lnSpc>
                <a:spcPct val="112000"/>
              </a:lnSpc>
              <a:spcAft>
                <a:spcPts val="0"/>
              </a:spcAft>
              <a:defRPr sz="1100" b="1">
                <a:solidFill>
                  <a:srgbClr val="54E1C1"/>
                </a:solidFill>
                <a:latin typeface="Noto Sans"/>
              </a:defRPr>
              <a:buNone/>
            </a:pPr>
            <a:r>
              <a:t>07 / BOOTH WALKTHROUGH</a:t>
            </a:r>
          </a:p>
        </p:txBody>
      </p:sp>
      <p:cxnSp>
        <p:nvCxnSpPr>
          <p:cNvPr id="5" name="Connector 4"/>
          <p:cNvCxnSpPr/>
          <p:nvPr/>
        </p:nvCxnSpPr>
        <p:spPr>
          <a:xfrm>
            <a:off x="685800" y="6364224"/>
            <a:ext cx="10817352" cy="0"/>
          </a:xfrm>
          <a:prstGeom prst="line">
            <a:avLst/>
          </a:prstGeom>
          <a:ln w="19050">
            <a:solidFill>
              <a:srgbClr val="2943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510528"/>
            <a:ext cx="6400800" cy="182880"/>
          </a:xfrm>
          <a:prstGeom prst="rect">
            <a:avLst/>
          </a:prstGeom>
          <a:noFill/>
        </p:spPr>
        <p:txBody>
          <a:bodyPr wrap="square" lIns="0" rIns="0" tIns="0" bIns="0" anchor="t">
            <a:spAutoFit/>
          </a:bodyPr>
          <a:lstStyle/>
          <a:p>
            <a:pPr algn="l">
              <a:lnSpc>
                <a:spcPct val="112000"/>
              </a:lnSpc>
              <a:spcAft>
                <a:spcPts val="0"/>
              </a:spcAft>
              <a:defRPr sz="900" b="0">
                <a:solidFill>
                  <a:srgbClr val="AFC1D3"/>
                </a:solidFill>
                <a:latin typeface="Noto Sans"/>
              </a:defRPr>
              <a:buNone/>
            </a:pPr>
            <a:r>
              <a:t>CIPHER  /  STARTUP ALLEY</a:t>
            </a:r>
          </a:p>
        </p:txBody>
      </p:sp>
      <p:sp>
        <p:nvSpPr>
          <p:cNvPr id="7" name="TextBox 6"/>
          <p:cNvSpPr txBox="1"/>
          <p:nvPr/>
        </p:nvSpPr>
        <p:spPr>
          <a:xfrm>
            <a:off x="10561320" y="6492240"/>
            <a:ext cx="941832" cy="210312"/>
          </a:xfrm>
          <a:prstGeom prst="rect">
            <a:avLst/>
          </a:prstGeom>
          <a:noFill/>
        </p:spPr>
        <p:txBody>
          <a:bodyPr wrap="square" lIns="0" rIns="0" tIns="0" bIns="0" anchor="t">
            <a:spAutoFit/>
          </a:bodyPr>
          <a:lstStyle/>
          <a:p>
            <a:pPr algn="r">
              <a:lnSpc>
                <a:spcPct val="112000"/>
              </a:lnSpc>
              <a:spcAft>
                <a:spcPts val="0"/>
              </a:spcAft>
              <a:defRPr sz="1000" b="0">
                <a:solidFill>
                  <a:srgbClr val="AFC1D3"/>
                </a:solidFill>
                <a:latin typeface="JetBrains Mono"/>
              </a:defRPr>
              <a:buNone/>
            </a:pPr>
            <a:r>
              <a:t>07 / 12</a:t>
            </a:r>
          </a:p>
        </p:txBody>
      </p:sp>
      <p:sp>
        <p:nvSpPr>
          <p:cNvPr id="8" name="Rounded Rectangle 7"/>
          <p:cNvSpPr/>
          <p:nvPr/>
        </p:nvSpPr>
        <p:spPr>
          <a:xfrm>
            <a:off x="731520" y="2231136"/>
            <a:ext cx="3127248" cy="329184"/>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86000"/>
            <a:ext cx="2944368" cy="210312"/>
          </a:xfrm>
          <a:prstGeom prst="rect">
            <a:avLst/>
          </a:prstGeom>
          <a:noFill/>
        </p:spPr>
        <p:txBody>
          <a:bodyPr wrap="square" lIns="0" rIns="0" tIns="0" bIns="0" anchor="t">
            <a:spAutoFit/>
          </a:bodyPr>
          <a:lstStyle/>
          <a:p>
            <a:pPr algn="l">
              <a:lnSpc>
                <a:spcPct val="112000"/>
              </a:lnSpc>
              <a:spcAft>
                <a:spcPts val="0"/>
              </a:spcAft>
              <a:defRPr sz="1000" b="1">
                <a:solidFill>
                  <a:srgbClr val="54E1C1"/>
                </a:solidFill>
                <a:latin typeface="Noto Sans"/>
              </a:defRPr>
              <a:buNone/>
            </a:pPr>
            <a:r>
              <a:t>REHEARSED SOFTWARE FLOW</a:t>
            </a:r>
          </a:p>
        </p:txBody>
      </p:sp>
      <p:sp>
        <p:nvSpPr>
          <p:cNvPr id="10" name="TextBox 9"/>
          <p:cNvSpPr txBox="1"/>
          <p:nvPr/>
        </p:nvSpPr>
        <p:spPr>
          <a:xfrm>
            <a:off x="777240" y="2999232"/>
            <a:ext cx="7772400" cy="722376"/>
          </a:xfrm>
          <a:prstGeom prst="rect">
            <a:avLst/>
          </a:prstGeom>
          <a:noFill/>
        </p:spPr>
        <p:txBody>
          <a:bodyPr wrap="square" lIns="0" rIns="0" tIns="0" bIns="0" anchor="t">
            <a:spAutoFit/>
          </a:bodyPr>
          <a:lstStyle/>
          <a:p>
            <a:pPr algn="l" marL="210312" indent="-210312">
              <a:lnSpc>
                <a:spcPct val="112000"/>
              </a:lnSpc>
              <a:spcAft>
                <a:spcPts val="0"/>
              </a:spcAft>
              <a:defRPr sz="2500" b="0">
                <a:solidFill>
                  <a:srgbClr val="F3F7FC"/>
                </a:solidFill>
                <a:latin typeface="Noto Sans"/>
              </a:defRPr>
              <a:buChar char="•"/>
            </a:pPr>
            <a:r>
              <a:t>See unusual activity and its evidence</a:t>
            </a:r>
          </a:p>
        </p:txBody>
      </p:sp>
      <p:sp>
        <p:nvSpPr>
          <p:cNvPr id="11" name="TextBox 10"/>
          <p:cNvSpPr txBox="1"/>
          <p:nvPr/>
        </p:nvSpPr>
        <p:spPr>
          <a:xfrm>
            <a:off x="777240" y="3803904"/>
            <a:ext cx="7772400" cy="722376"/>
          </a:xfrm>
          <a:prstGeom prst="rect">
            <a:avLst/>
          </a:prstGeom>
          <a:noFill/>
        </p:spPr>
        <p:txBody>
          <a:bodyPr wrap="square" lIns="0" rIns="0" tIns="0" bIns="0" anchor="t">
            <a:spAutoFit/>
          </a:bodyPr>
          <a:lstStyle/>
          <a:p>
            <a:pPr algn="l" marL="210312" indent="-210312">
              <a:lnSpc>
                <a:spcPct val="112000"/>
              </a:lnSpc>
              <a:spcAft>
                <a:spcPts val="0"/>
              </a:spcAft>
              <a:defRPr sz="2500" b="0">
                <a:solidFill>
                  <a:srgbClr val="F3F7FC"/>
                </a:solidFill>
                <a:latin typeface="Noto Sans"/>
              </a:defRPr>
              <a:buChar char="•"/>
            </a:pPr>
            <a:r>
              <a:t>Enable response, then trust the device</a:t>
            </a:r>
          </a:p>
        </p:txBody>
      </p:sp>
      <p:sp>
        <p:nvSpPr>
          <p:cNvPr id="12" name="TextBox 11"/>
          <p:cNvSpPr txBox="1"/>
          <p:nvPr/>
        </p:nvSpPr>
        <p:spPr>
          <a:xfrm>
            <a:off x="777240" y="4608576"/>
            <a:ext cx="7772400" cy="722376"/>
          </a:xfrm>
          <a:prstGeom prst="rect">
            <a:avLst/>
          </a:prstGeom>
          <a:noFill/>
        </p:spPr>
        <p:txBody>
          <a:bodyPr wrap="square" lIns="0" rIns="0" tIns="0" bIns="0" anchor="t">
            <a:spAutoFit/>
          </a:bodyPr>
          <a:lstStyle/>
          <a:p>
            <a:pPr algn="l" marL="210312" indent="-210312">
              <a:lnSpc>
                <a:spcPct val="112000"/>
              </a:lnSpc>
              <a:spcAft>
                <a:spcPts val="0"/>
              </a:spcAft>
              <a:defRPr sz="2500" b="0">
                <a:solidFill>
                  <a:srgbClr val="F3F7FC"/>
                </a:solidFill>
                <a:latin typeface="Noto Sans"/>
              </a:defRPr>
              <a:buChar char="•"/>
            </a:pPr>
            <a:r>
              <a:t>Show provider failure and recovery</a:t>
            </a:r>
          </a:p>
        </p:txBody>
      </p:sp>
      <p:sp>
        <p:nvSpPr>
          <p:cNvPr id="13" name="Rounded Rectangle 12"/>
          <p:cNvSpPr/>
          <p:nvPr/>
        </p:nvSpPr>
        <p:spPr>
          <a:xfrm>
            <a:off x="9217152" y="2953512"/>
            <a:ext cx="2286000" cy="2139696"/>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27464" y="3291840"/>
            <a:ext cx="1865376" cy="612648"/>
          </a:xfrm>
          <a:prstGeom prst="rect">
            <a:avLst/>
          </a:prstGeom>
          <a:noFill/>
        </p:spPr>
        <p:txBody>
          <a:bodyPr wrap="square" lIns="0" rIns="0" tIns="0" bIns="0" anchor="t">
            <a:spAutoFit/>
          </a:bodyPr>
          <a:lstStyle/>
          <a:p>
            <a:pPr algn="l">
              <a:lnSpc>
                <a:spcPct val="112000"/>
              </a:lnSpc>
              <a:spcAft>
                <a:spcPts val="0"/>
              </a:spcAft>
              <a:defRPr sz="2800" b="1">
                <a:solidFill>
                  <a:srgbClr val="FFBE73"/>
                </a:solidFill>
                <a:latin typeface="JetBrains Mono"/>
              </a:defRPr>
              <a:buNone/>
            </a:pPr>
            <a:r>
              <a:t>DEMO</a:t>
            </a:r>
          </a:p>
        </p:txBody>
      </p:sp>
      <p:sp>
        <p:nvSpPr>
          <p:cNvPr id="15" name="TextBox 14"/>
          <p:cNvSpPr txBox="1"/>
          <p:nvPr/>
        </p:nvSpPr>
        <p:spPr>
          <a:xfrm>
            <a:off x="9427464" y="4059936"/>
            <a:ext cx="1865376" cy="320040"/>
          </a:xfrm>
          <a:prstGeom prst="rect">
            <a:avLst/>
          </a:prstGeom>
          <a:noFill/>
        </p:spPr>
        <p:txBody>
          <a:bodyPr wrap="square" lIns="0" rIns="0" tIns="0" bIns="0" anchor="t">
            <a:spAutoFit/>
          </a:bodyPr>
          <a:lstStyle/>
          <a:p>
            <a:pPr algn="l">
              <a:lnSpc>
                <a:spcPct val="112000"/>
              </a:lnSpc>
              <a:spcAft>
                <a:spcPts val="0"/>
              </a:spcAft>
              <a:defRPr sz="1300" b="0">
                <a:solidFill>
                  <a:srgbClr val="AFC1D3"/>
                </a:solidFill>
                <a:latin typeface="Noto Sans"/>
              </a:defRPr>
              <a:buNone/>
            </a:pPr>
            <a:r>
              <a:t>simulated sensor</a:t>
            </a:r>
          </a:p>
        </p:txBody>
      </p:sp>
      <p:sp>
        <p:nvSpPr>
          <p:cNvPr id="16" name="TextBox 15"/>
          <p:cNvSpPr txBox="1"/>
          <p:nvPr/>
        </p:nvSpPr>
        <p:spPr>
          <a:xfrm>
            <a:off x="9427464" y="4572000"/>
            <a:ext cx="1865376" cy="320040"/>
          </a:xfrm>
          <a:prstGeom prst="rect">
            <a:avLst/>
          </a:prstGeom>
          <a:noFill/>
        </p:spPr>
        <p:txBody>
          <a:bodyPr wrap="square" lIns="0" rIns="0" tIns="0" bIns="0" anchor="t">
            <a:spAutoFit/>
          </a:bodyPr>
          <a:lstStyle/>
          <a:p>
            <a:pPr algn="l">
              <a:lnSpc>
                <a:spcPct val="112000"/>
              </a:lnSpc>
              <a:spcAft>
                <a:spcPts val="0"/>
              </a:spcAft>
              <a:defRPr sz="1400" b="1">
                <a:solidFill>
                  <a:srgbClr val="54E1C1"/>
                </a:solidFill>
                <a:latin typeface="JetBrains Mono"/>
              </a:defRPr>
              <a:buNone/>
            </a:pPr>
            <a:r>
              <a:t>real backend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Title 1"/>
          <p:cNvSpPr>
            <a:spLocks noGrp="1"/>
          </p:cNvSpPr>
          <p:nvPr>
            <p:ph type="title"/>
          </p:nvPr>
        </p:nvSpPr>
        <p:spPr>
          <a:xfrm>
            <a:off x="685800" y="932688"/>
            <a:ext cx="10789920" cy="1188720"/>
          </a:xfrm>
        </p:spPr>
        <p:txBody>
          <a:bodyPr wrap="square" lIns="0" rIns="0" tIns="0" bIns="0" anchor="t"/>
          <a:lstStyle/>
          <a:p>
            <a:pPr algn="l">
              <a:lnSpc>
                <a:spcPct val="112000"/>
              </a:lnSpc>
              <a:spcAft>
                <a:spcPts val="0"/>
              </a:spcAft>
              <a:defRPr sz="3400" b="1">
                <a:solidFill>
                  <a:srgbClr val="F3F7FC"/>
                </a:solidFill>
                <a:latin typeface="Noto Sans"/>
              </a:defRPr>
              <a:buNone/>
            </a:pPr>
            <a:r>
              <a:t>Start with small offices we can support.</a:t>
            </a:r>
          </a:p>
        </p:txBody>
      </p:sp>
      <p:sp>
        <p:nvSpPr>
          <p:cNvPr id="3" name="Rectangle 2"/>
          <p:cNvSpPr/>
          <p:nvPr/>
        </p:nvSpPr>
        <p:spPr>
          <a:xfrm>
            <a:off x="502920" y="438912"/>
            <a:ext cx="91440" cy="1828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29768"/>
            <a:ext cx="10698480" cy="228600"/>
          </a:xfrm>
          <a:prstGeom prst="rect">
            <a:avLst/>
          </a:prstGeom>
          <a:noFill/>
        </p:spPr>
        <p:txBody>
          <a:bodyPr wrap="square" lIns="0" rIns="0" tIns="0" bIns="0" anchor="t">
            <a:spAutoFit/>
          </a:bodyPr>
          <a:lstStyle/>
          <a:p>
            <a:pPr algn="l">
              <a:lnSpc>
                <a:spcPct val="112000"/>
              </a:lnSpc>
              <a:spcAft>
                <a:spcPts val="0"/>
              </a:spcAft>
              <a:defRPr sz="1100" b="1">
                <a:solidFill>
                  <a:srgbClr val="54E1C1"/>
                </a:solidFill>
                <a:latin typeface="Noto Sans"/>
              </a:defRPr>
              <a:buNone/>
            </a:pPr>
            <a:r>
              <a:t>08 / INITIAL CUSTOMER HYPOTHESIS</a:t>
            </a:r>
          </a:p>
        </p:txBody>
      </p:sp>
      <p:cxnSp>
        <p:nvCxnSpPr>
          <p:cNvPr id="5" name="Connector 4"/>
          <p:cNvCxnSpPr/>
          <p:nvPr/>
        </p:nvCxnSpPr>
        <p:spPr>
          <a:xfrm>
            <a:off x="685800" y="6364224"/>
            <a:ext cx="10817352" cy="0"/>
          </a:xfrm>
          <a:prstGeom prst="line">
            <a:avLst/>
          </a:prstGeom>
          <a:ln w="19050">
            <a:solidFill>
              <a:srgbClr val="2943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510528"/>
            <a:ext cx="6400800" cy="182880"/>
          </a:xfrm>
          <a:prstGeom prst="rect">
            <a:avLst/>
          </a:prstGeom>
          <a:noFill/>
        </p:spPr>
        <p:txBody>
          <a:bodyPr wrap="square" lIns="0" rIns="0" tIns="0" bIns="0" anchor="t">
            <a:spAutoFit/>
          </a:bodyPr>
          <a:lstStyle/>
          <a:p>
            <a:pPr algn="l">
              <a:lnSpc>
                <a:spcPct val="112000"/>
              </a:lnSpc>
              <a:spcAft>
                <a:spcPts val="0"/>
              </a:spcAft>
              <a:defRPr sz="900" b="0">
                <a:solidFill>
                  <a:srgbClr val="AFC1D3"/>
                </a:solidFill>
                <a:latin typeface="Noto Sans"/>
              </a:defRPr>
              <a:buNone/>
            </a:pPr>
            <a:r>
              <a:t>CIPHER  /  STARTUP ALLEY</a:t>
            </a:r>
          </a:p>
        </p:txBody>
      </p:sp>
      <p:sp>
        <p:nvSpPr>
          <p:cNvPr id="7" name="TextBox 6"/>
          <p:cNvSpPr txBox="1"/>
          <p:nvPr/>
        </p:nvSpPr>
        <p:spPr>
          <a:xfrm>
            <a:off x="10561320" y="6492240"/>
            <a:ext cx="941832" cy="210312"/>
          </a:xfrm>
          <a:prstGeom prst="rect">
            <a:avLst/>
          </a:prstGeom>
          <a:noFill/>
        </p:spPr>
        <p:txBody>
          <a:bodyPr wrap="square" lIns="0" rIns="0" tIns="0" bIns="0" anchor="t">
            <a:spAutoFit/>
          </a:bodyPr>
          <a:lstStyle/>
          <a:p>
            <a:pPr algn="r">
              <a:lnSpc>
                <a:spcPct val="112000"/>
              </a:lnSpc>
              <a:spcAft>
                <a:spcPts val="0"/>
              </a:spcAft>
              <a:defRPr sz="1000" b="0">
                <a:solidFill>
                  <a:srgbClr val="AFC1D3"/>
                </a:solidFill>
                <a:latin typeface="JetBrains Mono"/>
              </a:defRPr>
              <a:buNone/>
            </a:pPr>
            <a:r>
              <a:t>08 / 12</a:t>
            </a:r>
          </a:p>
        </p:txBody>
      </p:sp>
      <p:sp>
        <p:nvSpPr>
          <p:cNvPr id="8" name="Rounded Rectangle 7"/>
          <p:cNvSpPr/>
          <p:nvPr/>
        </p:nvSpPr>
        <p:spPr>
          <a:xfrm>
            <a:off x="685800" y="2423160"/>
            <a:ext cx="5148072" cy="3163824"/>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651760"/>
            <a:ext cx="36576" cy="2706624"/>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43200"/>
            <a:ext cx="4690872" cy="777240"/>
          </a:xfrm>
          <a:prstGeom prst="rect">
            <a:avLst/>
          </a:prstGeom>
          <a:noFill/>
        </p:spPr>
        <p:txBody>
          <a:bodyPr wrap="square" lIns="0" rIns="0" tIns="0" bIns="0" anchor="t">
            <a:spAutoFit/>
          </a:bodyPr>
          <a:lstStyle/>
          <a:p>
            <a:pPr algn="l">
              <a:lnSpc>
                <a:spcPct val="112000"/>
              </a:lnSpc>
              <a:spcAft>
                <a:spcPts val="0"/>
              </a:spcAft>
              <a:defRPr sz="2200" b="1">
                <a:solidFill>
                  <a:srgbClr val="54E1C1"/>
                </a:solidFill>
                <a:latin typeface="Noto Sans"/>
              </a:defRPr>
              <a:buNone/>
            </a:pPr>
            <a:r>
              <a:t>PILOT PROFILE</a:t>
            </a:r>
          </a:p>
        </p:txBody>
      </p:sp>
      <p:sp>
        <p:nvSpPr>
          <p:cNvPr id="11" name="TextBox 10"/>
          <p:cNvSpPr txBox="1"/>
          <p:nvPr/>
        </p:nvSpPr>
        <p:spPr>
          <a:xfrm>
            <a:off x="914400" y="3685032"/>
            <a:ext cx="4690872"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Mixed office + IoT devices</a:t>
            </a:r>
          </a:p>
        </p:txBody>
      </p:sp>
      <p:sp>
        <p:nvSpPr>
          <p:cNvPr id="12" name="TextBox 11"/>
          <p:cNvSpPr txBox="1"/>
          <p:nvPr/>
        </p:nvSpPr>
        <p:spPr>
          <a:xfrm>
            <a:off x="914400" y="4416552"/>
            <a:ext cx="4690872"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Compatible Linux gateway</a:t>
            </a:r>
          </a:p>
        </p:txBody>
      </p:sp>
      <p:sp>
        <p:nvSpPr>
          <p:cNvPr id="13" name="Rounded Rectangle 12"/>
          <p:cNvSpPr/>
          <p:nvPr/>
        </p:nvSpPr>
        <p:spPr>
          <a:xfrm>
            <a:off x="6355080" y="2423160"/>
            <a:ext cx="5148072" cy="3163824"/>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2651760"/>
            <a:ext cx="36576" cy="2706624"/>
          </a:xfrm>
          <a:prstGeom prst="rect">
            <a:avLst/>
          </a:prstGeom>
          <a:solidFill>
            <a:srgbClr val="73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743200"/>
            <a:ext cx="4690872" cy="777240"/>
          </a:xfrm>
          <a:prstGeom prst="rect">
            <a:avLst/>
          </a:prstGeom>
          <a:noFill/>
        </p:spPr>
        <p:txBody>
          <a:bodyPr wrap="square" lIns="0" rIns="0" tIns="0" bIns="0" anchor="t">
            <a:spAutoFit/>
          </a:bodyPr>
          <a:lstStyle/>
          <a:p>
            <a:pPr algn="l">
              <a:lnSpc>
                <a:spcPct val="112000"/>
              </a:lnSpc>
              <a:spcAft>
                <a:spcPts val="0"/>
              </a:spcAft>
              <a:defRPr sz="2200" b="1">
                <a:solidFill>
                  <a:srgbClr val="73B9FF"/>
                </a:solidFill>
                <a:latin typeface="Noto Sans"/>
              </a:defRPr>
              <a:buNone/>
            </a:pPr>
            <a:r>
              <a:t>TEST THE NEED</a:t>
            </a:r>
          </a:p>
        </p:txBody>
      </p:sp>
      <p:sp>
        <p:nvSpPr>
          <p:cNvPr id="16" name="TextBox 15"/>
          <p:cNvSpPr txBox="1"/>
          <p:nvPr/>
        </p:nvSpPr>
        <p:spPr>
          <a:xfrm>
            <a:off x="6583680" y="3685032"/>
            <a:ext cx="4690872"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Actionable alerts</a:t>
            </a:r>
          </a:p>
        </p:txBody>
      </p:sp>
      <p:sp>
        <p:nvSpPr>
          <p:cNvPr id="17" name="TextBox 16"/>
          <p:cNvSpPr txBox="1"/>
          <p:nvPr/>
        </p:nvSpPr>
        <p:spPr>
          <a:xfrm>
            <a:off x="6583680" y="4416552"/>
            <a:ext cx="4690872"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Manageable support burden</a:t>
            </a:r>
          </a:p>
        </p:txBody>
      </p:sp>
      <p:sp>
        <p:nvSpPr>
          <p:cNvPr id="18" name="TextBox 17"/>
          <p:cNvSpPr txBox="1"/>
          <p:nvPr/>
        </p:nvSpPr>
        <p:spPr>
          <a:xfrm>
            <a:off x="731520" y="5934456"/>
            <a:ext cx="10789920" cy="228600"/>
          </a:xfrm>
          <a:prstGeom prst="rect">
            <a:avLst/>
          </a:prstGeom>
          <a:noFill/>
        </p:spPr>
        <p:txBody>
          <a:bodyPr wrap="square" lIns="0" rIns="0" tIns="0" bIns="0" anchor="t">
            <a:spAutoFit/>
          </a:bodyPr>
          <a:lstStyle/>
          <a:p>
            <a:pPr algn="l">
              <a:lnSpc>
                <a:spcPct val="112000"/>
              </a:lnSpc>
              <a:spcAft>
                <a:spcPts val="0"/>
              </a:spcAft>
              <a:defRPr sz="1200" b="0">
                <a:solidFill>
                  <a:srgbClr val="AFC1D3"/>
                </a:solidFill>
                <a:latin typeface="Noto Sans"/>
              </a:defRPr>
              <a:buNone/>
            </a:pPr>
            <a:r>
              <a:t>Customer demand and willingness to pay remain unvalidated.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Title 1"/>
          <p:cNvSpPr>
            <a:spLocks noGrp="1"/>
          </p:cNvSpPr>
          <p:nvPr>
            <p:ph type="title"/>
          </p:nvPr>
        </p:nvSpPr>
        <p:spPr>
          <a:xfrm>
            <a:off x="685800" y="932688"/>
            <a:ext cx="10789920" cy="1188720"/>
          </a:xfrm>
        </p:spPr>
        <p:txBody>
          <a:bodyPr wrap="square" lIns="0" rIns="0" tIns="0" bIns="0" anchor="t"/>
          <a:lstStyle/>
          <a:p>
            <a:pPr algn="l">
              <a:lnSpc>
                <a:spcPct val="112000"/>
              </a:lnSpc>
              <a:spcAft>
                <a:spcPts val="0"/>
              </a:spcAft>
              <a:defRPr sz="3400" b="1">
                <a:solidFill>
                  <a:srgbClr val="F3F7FC"/>
                </a:solidFill>
                <a:latin typeface="Noto Sans"/>
              </a:defRPr>
              <a:buNone/>
            </a:pPr>
            <a:r>
              <a:t>Prove added protection at an acceptable cost.</a:t>
            </a:r>
          </a:p>
        </p:txBody>
      </p:sp>
      <p:sp>
        <p:nvSpPr>
          <p:cNvPr id="3" name="Rectangle 2"/>
          <p:cNvSpPr/>
          <p:nvPr/>
        </p:nvSpPr>
        <p:spPr>
          <a:xfrm>
            <a:off x="502920" y="438912"/>
            <a:ext cx="91440" cy="1828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29768"/>
            <a:ext cx="10698480" cy="228600"/>
          </a:xfrm>
          <a:prstGeom prst="rect">
            <a:avLst/>
          </a:prstGeom>
          <a:noFill/>
        </p:spPr>
        <p:txBody>
          <a:bodyPr wrap="square" lIns="0" rIns="0" tIns="0" bIns="0" anchor="t">
            <a:spAutoFit/>
          </a:bodyPr>
          <a:lstStyle/>
          <a:p>
            <a:pPr algn="l">
              <a:lnSpc>
                <a:spcPct val="112000"/>
              </a:lnSpc>
              <a:spcAft>
                <a:spcPts val="0"/>
              </a:spcAft>
              <a:defRPr sz="1100" b="1">
                <a:solidFill>
                  <a:srgbClr val="54E1C1"/>
                </a:solidFill>
                <a:latin typeface="Noto Sans"/>
              </a:defRPr>
              <a:buNone/>
            </a:pPr>
            <a:r>
              <a:t>09 / VALIDATION PLAN</a:t>
            </a:r>
          </a:p>
        </p:txBody>
      </p:sp>
      <p:cxnSp>
        <p:nvCxnSpPr>
          <p:cNvPr id="5" name="Connector 4"/>
          <p:cNvCxnSpPr/>
          <p:nvPr/>
        </p:nvCxnSpPr>
        <p:spPr>
          <a:xfrm>
            <a:off x="685800" y="6364224"/>
            <a:ext cx="10817352" cy="0"/>
          </a:xfrm>
          <a:prstGeom prst="line">
            <a:avLst/>
          </a:prstGeom>
          <a:ln w="19050">
            <a:solidFill>
              <a:srgbClr val="2943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510528"/>
            <a:ext cx="6400800" cy="182880"/>
          </a:xfrm>
          <a:prstGeom prst="rect">
            <a:avLst/>
          </a:prstGeom>
          <a:noFill/>
        </p:spPr>
        <p:txBody>
          <a:bodyPr wrap="square" lIns="0" rIns="0" tIns="0" bIns="0" anchor="t">
            <a:spAutoFit/>
          </a:bodyPr>
          <a:lstStyle/>
          <a:p>
            <a:pPr algn="l">
              <a:lnSpc>
                <a:spcPct val="112000"/>
              </a:lnSpc>
              <a:spcAft>
                <a:spcPts val="0"/>
              </a:spcAft>
              <a:defRPr sz="900" b="0">
                <a:solidFill>
                  <a:srgbClr val="AFC1D3"/>
                </a:solidFill>
                <a:latin typeface="Noto Sans"/>
              </a:defRPr>
              <a:buNone/>
            </a:pPr>
            <a:r>
              <a:t>CIPHER  /  STARTUP ALLEY</a:t>
            </a:r>
          </a:p>
        </p:txBody>
      </p:sp>
      <p:sp>
        <p:nvSpPr>
          <p:cNvPr id="7" name="TextBox 6"/>
          <p:cNvSpPr txBox="1"/>
          <p:nvPr/>
        </p:nvSpPr>
        <p:spPr>
          <a:xfrm>
            <a:off x="10561320" y="6492240"/>
            <a:ext cx="941832" cy="210312"/>
          </a:xfrm>
          <a:prstGeom prst="rect">
            <a:avLst/>
          </a:prstGeom>
          <a:noFill/>
        </p:spPr>
        <p:txBody>
          <a:bodyPr wrap="square" lIns="0" rIns="0" tIns="0" bIns="0" anchor="t">
            <a:spAutoFit/>
          </a:bodyPr>
          <a:lstStyle/>
          <a:p>
            <a:pPr algn="r">
              <a:lnSpc>
                <a:spcPct val="112000"/>
              </a:lnSpc>
              <a:spcAft>
                <a:spcPts val="0"/>
              </a:spcAft>
              <a:defRPr sz="1000" b="0">
                <a:solidFill>
                  <a:srgbClr val="AFC1D3"/>
                </a:solidFill>
                <a:latin typeface="JetBrains Mono"/>
              </a:defRPr>
              <a:buNone/>
            </a:pPr>
            <a:r>
              <a:t>09 / 12</a:t>
            </a:r>
          </a:p>
        </p:txBody>
      </p:sp>
      <p:sp>
        <p:nvSpPr>
          <p:cNvPr id="8" name="Rounded Rectangle 7"/>
          <p:cNvSpPr/>
          <p:nvPr/>
        </p:nvSpPr>
        <p:spPr>
          <a:xfrm>
            <a:off x="685800" y="2423160"/>
            <a:ext cx="3429000" cy="3163824"/>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651760"/>
            <a:ext cx="36576" cy="2706624"/>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43200"/>
            <a:ext cx="2971800" cy="777240"/>
          </a:xfrm>
          <a:prstGeom prst="rect">
            <a:avLst/>
          </a:prstGeom>
          <a:noFill/>
        </p:spPr>
        <p:txBody>
          <a:bodyPr wrap="square" lIns="0" rIns="0" tIns="0" bIns="0" anchor="t">
            <a:spAutoFit/>
          </a:bodyPr>
          <a:lstStyle/>
          <a:p>
            <a:pPr algn="l">
              <a:lnSpc>
                <a:spcPct val="112000"/>
              </a:lnSpc>
              <a:spcAft>
                <a:spcPts val="0"/>
              </a:spcAft>
              <a:defRPr sz="2200" b="1">
                <a:solidFill>
                  <a:srgbClr val="54E1C1"/>
                </a:solidFill>
                <a:latin typeface="Noto Sans"/>
              </a:defRPr>
              <a:buNone/>
            </a:pPr>
            <a:r>
              <a:t>Security</a:t>
            </a:r>
          </a:p>
        </p:txBody>
      </p:sp>
      <p:sp>
        <p:nvSpPr>
          <p:cNvPr id="11" name="TextBox 10"/>
          <p:cNvSpPr txBox="1"/>
          <p:nvPr/>
        </p:nvSpPr>
        <p:spPr>
          <a:xfrm>
            <a:off x="914400" y="3685032"/>
            <a:ext cx="297180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Missed threats</a:t>
            </a:r>
          </a:p>
        </p:txBody>
      </p:sp>
      <p:sp>
        <p:nvSpPr>
          <p:cNvPr id="12" name="TextBox 11"/>
          <p:cNvSpPr txBox="1"/>
          <p:nvPr/>
        </p:nvSpPr>
        <p:spPr>
          <a:xfrm>
            <a:off x="914400" y="4416552"/>
            <a:ext cx="297180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False blocks</a:t>
            </a:r>
          </a:p>
        </p:txBody>
      </p:sp>
      <p:sp>
        <p:nvSpPr>
          <p:cNvPr id="13" name="Rounded Rectangle 12"/>
          <p:cNvSpPr/>
          <p:nvPr/>
        </p:nvSpPr>
        <p:spPr>
          <a:xfrm>
            <a:off x="4379976" y="2423160"/>
            <a:ext cx="3429000" cy="3163824"/>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9976" y="2651760"/>
            <a:ext cx="36576" cy="2706624"/>
          </a:xfrm>
          <a:prstGeom prst="rect">
            <a:avLst/>
          </a:prstGeom>
          <a:solidFill>
            <a:srgbClr val="73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08576" y="2743200"/>
            <a:ext cx="2971800" cy="777240"/>
          </a:xfrm>
          <a:prstGeom prst="rect">
            <a:avLst/>
          </a:prstGeom>
          <a:noFill/>
        </p:spPr>
        <p:txBody>
          <a:bodyPr wrap="square" lIns="0" rIns="0" tIns="0" bIns="0" anchor="t">
            <a:spAutoFit/>
          </a:bodyPr>
          <a:lstStyle/>
          <a:p>
            <a:pPr algn="l">
              <a:lnSpc>
                <a:spcPct val="112000"/>
              </a:lnSpc>
              <a:spcAft>
                <a:spcPts val="0"/>
              </a:spcAft>
              <a:defRPr sz="2200" b="1">
                <a:solidFill>
                  <a:srgbClr val="73B9FF"/>
                </a:solidFill>
                <a:latin typeface="Noto Sans"/>
              </a:defRPr>
              <a:buNone/>
            </a:pPr>
            <a:r>
              <a:t>Efficiency</a:t>
            </a:r>
          </a:p>
        </p:txBody>
      </p:sp>
      <p:sp>
        <p:nvSpPr>
          <p:cNvPr id="16" name="TextBox 15"/>
          <p:cNvSpPr txBox="1"/>
          <p:nvPr/>
        </p:nvSpPr>
        <p:spPr>
          <a:xfrm>
            <a:off x="4608576" y="3685032"/>
            <a:ext cx="297180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CPU / RAM</a:t>
            </a:r>
          </a:p>
        </p:txBody>
      </p:sp>
      <p:sp>
        <p:nvSpPr>
          <p:cNvPr id="17" name="TextBox 16"/>
          <p:cNvSpPr txBox="1"/>
          <p:nvPr/>
        </p:nvSpPr>
        <p:spPr>
          <a:xfrm>
            <a:off x="4608576" y="4416552"/>
            <a:ext cx="297180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Throughput / p99 latency</a:t>
            </a:r>
          </a:p>
        </p:txBody>
      </p:sp>
      <p:sp>
        <p:nvSpPr>
          <p:cNvPr id="18" name="Rounded Rectangle 17"/>
          <p:cNvSpPr/>
          <p:nvPr/>
        </p:nvSpPr>
        <p:spPr>
          <a:xfrm>
            <a:off x="8074152" y="2423160"/>
            <a:ext cx="3429000" cy="3163824"/>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4152" y="2651760"/>
            <a:ext cx="36576" cy="2706624"/>
          </a:xfrm>
          <a:prstGeom prst="rect">
            <a:avLst/>
          </a:prstGeom>
          <a:solidFill>
            <a:srgbClr val="FFB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2743200"/>
            <a:ext cx="2971800" cy="777240"/>
          </a:xfrm>
          <a:prstGeom prst="rect">
            <a:avLst/>
          </a:prstGeom>
          <a:noFill/>
        </p:spPr>
        <p:txBody>
          <a:bodyPr wrap="square" lIns="0" rIns="0" tIns="0" bIns="0" anchor="t">
            <a:spAutoFit/>
          </a:bodyPr>
          <a:lstStyle/>
          <a:p>
            <a:pPr algn="l">
              <a:lnSpc>
                <a:spcPct val="112000"/>
              </a:lnSpc>
              <a:spcAft>
                <a:spcPts val="0"/>
              </a:spcAft>
              <a:defRPr sz="2200" b="1">
                <a:solidFill>
                  <a:srgbClr val="FFBE73"/>
                </a:solidFill>
                <a:latin typeface="Noto Sans"/>
              </a:defRPr>
              <a:buNone/>
            </a:pPr>
            <a:r>
              <a:t>Operations</a:t>
            </a:r>
          </a:p>
        </p:txBody>
      </p:sp>
      <p:sp>
        <p:nvSpPr>
          <p:cNvPr id="21" name="TextBox 20"/>
          <p:cNvSpPr txBox="1"/>
          <p:nvPr/>
        </p:nvSpPr>
        <p:spPr>
          <a:xfrm>
            <a:off x="8302752" y="3685032"/>
            <a:ext cx="297180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Installation effort</a:t>
            </a:r>
          </a:p>
        </p:txBody>
      </p:sp>
      <p:sp>
        <p:nvSpPr>
          <p:cNvPr id="22" name="TextBox 21"/>
          <p:cNvSpPr txBox="1"/>
          <p:nvPr/>
        </p:nvSpPr>
        <p:spPr>
          <a:xfrm>
            <a:off x="8302752" y="4416552"/>
            <a:ext cx="297180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Failure recovery</a:t>
            </a:r>
          </a:p>
        </p:txBody>
      </p:sp>
      <p:sp>
        <p:nvSpPr>
          <p:cNvPr id="23" name="TextBox 22"/>
          <p:cNvSpPr txBox="1"/>
          <p:nvPr/>
        </p:nvSpPr>
        <p:spPr>
          <a:xfrm>
            <a:off x="731520" y="5870448"/>
            <a:ext cx="10789920" cy="402336"/>
          </a:xfrm>
          <a:prstGeom prst="rect">
            <a:avLst/>
          </a:prstGeom>
          <a:noFill/>
        </p:spPr>
        <p:txBody>
          <a:bodyPr wrap="square" lIns="0" rIns="0" tIns="0" bIns="0" anchor="t">
            <a:spAutoFit/>
          </a:bodyPr>
          <a:lstStyle/>
          <a:p>
            <a:pPr algn="l">
              <a:lnSpc>
                <a:spcPct val="112000"/>
              </a:lnSpc>
              <a:spcAft>
                <a:spcPts val="0"/>
              </a:spcAft>
              <a:defRPr sz="1800" b="0">
                <a:solidFill>
                  <a:srgbClr val="AFC1D3"/>
                </a:solidFill>
                <a:latin typeface="Noto Sans"/>
              </a:defRPr>
              <a:buNone/>
            </a:pPr>
            <a:r>
              <a:t>Same hardware: firewall alone → + statistics → + LLM review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Title 1"/>
          <p:cNvSpPr>
            <a:spLocks noGrp="1"/>
          </p:cNvSpPr>
          <p:nvPr>
            <p:ph type="title"/>
          </p:nvPr>
        </p:nvSpPr>
        <p:spPr>
          <a:xfrm>
            <a:off x="685800" y="932688"/>
            <a:ext cx="10789920" cy="1188720"/>
          </a:xfrm>
        </p:spPr>
        <p:txBody>
          <a:bodyPr wrap="square" lIns="0" rIns="0" tIns="0" bIns="0" anchor="t"/>
          <a:lstStyle/>
          <a:p>
            <a:pPr algn="l">
              <a:lnSpc>
                <a:spcPct val="112000"/>
              </a:lnSpc>
              <a:spcAft>
                <a:spcPts val="0"/>
              </a:spcAft>
              <a:defRPr sz="3400" b="1">
                <a:solidFill>
                  <a:srgbClr val="F3F7FC"/>
                </a:solidFill>
                <a:latin typeface="Noto Sans"/>
              </a:defRPr>
              <a:buNone/>
            </a:pPr>
            <a:r>
              <a:t>Ready to demonstrate. Hardware proof is next.</a:t>
            </a:r>
          </a:p>
        </p:txBody>
      </p:sp>
      <p:sp>
        <p:nvSpPr>
          <p:cNvPr id="3" name="Rectangle 2"/>
          <p:cNvSpPr/>
          <p:nvPr/>
        </p:nvSpPr>
        <p:spPr>
          <a:xfrm>
            <a:off x="502920" y="438912"/>
            <a:ext cx="91440" cy="1828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29768"/>
            <a:ext cx="10698480" cy="228600"/>
          </a:xfrm>
          <a:prstGeom prst="rect">
            <a:avLst/>
          </a:prstGeom>
          <a:noFill/>
        </p:spPr>
        <p:txBody>
          <a:bodyPr wrap="square" lIns="0" rIns="0" tIns="0" bIns="0" anchor="t">
            <a:spAutoFit/>
          </a:bodyPr>
          <a:lstStyle/>
          <a:p>
            <a:pPr algn="l">
              <a:lnSpc>
                <a:spcPct val="112000"/>
              </a:lnSpc>
              <a:spcAft>
                <a:spcPts val="0"/>
              </a:spcAft>
              <a:defRPr sz="1100" b="1">
                <a:solidFill>
                  <a:srgbClr val="54E1C1"/>
                </a:solidFill>
                <a:latin typeface="Noto Sans"/>
              </a:defRPr>
              <a:buNone/>
            </a:pPr>
            <a:r>
              <a:t>10 / PROTOTYPE STATUS</a:t>
            </a:r>
          </a:p>
        </p:txBody>
      </p:sp>
      <p:cxnSp>
        <p:nvCxnSpPr>
          <p:cNvPr id="5" name="Connector 4"/>
          <p:cNvCxnSpPr/>
          <p:nvPr/>
        </p:nvCxnSpPr>
        <p:spPr>
          <a:xfrm>
            <a:off x="685800" y="6364224"/>
            <a:ext cx="10817352" cy="0"/>
          </a:xfrm>
          <a:prstGeom prst="line">
            <a:avLst/>
          </a:prstGeom>
          <a:ln w="19050">
            <a:solidFill>
              <a:srgbClr val="2943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510528"/>
            <a:ext cx="6400800" cy="182880"/>
          </a:xfrm>
          <a:prstGeom prst="rect">
            <a:avLst/>
          </a:prstGeom>
          <a:noFill/>
        </p:spPr>
        <p:txBody>
          <a:bodyPr wrap="square" lIns="0" rIns="0" tIns="0" bIns="0" anchor="t">
            <a:spAutoFit/>
          </a:bodyPr>
          <a:lstStyle/>
          <a:p>
            <a:pPr algn="l">
              <a:lnSpc>
                <a:spcPct val="112000"/>
              </a:lnSpc>
              <a:spcAft>
                <a:spcPts val="0"/>
              </a:spcAft>
              <a:defRPr sz="900" b="0">
                <a:solidFill>
                  <a:srgbClr val="AFC1D3"/>
                </a:solidFill>
                <a:latin typeface="Noto Sans"/>
              </a:defRPr>
              <a:buNone/>
            </a:pPr>
            <a:r>
              <a:t>CIPHER  /  STARTUP ALLEY</a:t>
            </a:r>
          </a:p>
        </p:txBody>
      </p:sp>
      <p:sp>
        <p:nvSpPr>
          <p:cNvPr id="7" name="TextBox 6"/>
          <p:cNvSpPr txBox="1"/>
          <p:nvPr/>
        </p:nvSpPr>
        <p:spPr>
          <a:xfrm>
            <a:off x="10561320" y="6492240"/>
            <a:ext cx="941832" cy="210312"/>
          </a:xfrm>
          <a:prstGeom prst="rect">
            <a:avLst/>
          </a:prstGeom>
          <a:noFill/>
        </p:spPr>
        <p:txBody>
          <a:bodyPr wrap="square" lIns="0" rIns="0" tIns="0" bIns="0" anchor="t">
            <a:spAutoFit/>
          </a:bodyPr>
          <a:lstStyle/>
          <a:p>
            <a:pPr algn="r">
              <a:lnSpc>
                <a:spcPct val="112000"/>
              </a:lnSpc>
              <a:spcAft>
                <a:spcPts val="0"/>
              </a:spcAft>
              <a:defRPr sz="1000" b="0">
                <a:solidFill>
                  <a:srgbClr val="AFC1D3"/>
                </a:solidFill>
                <a:latin typeface="JetBrains Mono"/>
              </a:defRPr>
              <a:buNone/>
            </a:pPr>
            <a:r>
              <a:t>10 / 12</a:t>
            </a:r>
          </a:p>
        </p:txBody>
      </p:sp>
      <p:sp>
        <p:nvSpPr>
          <p:cNvPr id="8" name="Rounded Rectangle 7"/>
          <p:cNvSpPr/>
          <p:nvPr/>
        </p:nvSpPr>
        <p:spPr>
          <a:xfrm>
            <a:off x="685800" y="2423160"/>
            <a:ext cx="5148072" cy="3273552"/>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651760"/>
            <a:ext cx="36576" cy="2816352"/>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43200"/>
            <a:ext cx="4690872" cy="777240"/>
          </a:xfrm>
          <a:prstGeom prst="rect">
            <a:avLst/>
          </a:prstGeom>
          <a:noFill/>
        </p:spPr>
        <p:txBody>
          <a:bodyPr wrap="square" lIns="0" rIns="0" tIns="0" bIns="0" anchor="t">
            <a:spAutoFit/>
          </a:bodyPr>
          <a:lstStyle/>
          <a:p>
            <a:pPr algn="l">
              <a:lnSpc>
                <a:spcPct val="112000"/>
              </a:lnSpc>
              <a:spcAft>
                <a:spcPts val="0"/>
              </a:spcAft>
              <a:defRPr sz="2200" b="1">
                <a:solidFill>
                  <a:srgbClr val="54E1C1"/>
                </a:solidFill>
                <a:latin typeface="Noto Sans"/>
              </a:defRPr>
              <a:buNone/>
            </a:pPr>
            <a:r>
              <a:t>SHOW TODAY</a:t>
            </a:r>
          </a:p>
        </p:txBody>
      </p:sp>
      <p:sp>
        <p:nvSpPr>
          <p:cNvPr id="11" name="TextBox 10"/>
          <p:cNvSpPr txBox="1"/>
          <p:nvPr/>
        </p:nvSpPr>
        <p:spPr>
          <a:xfrm>
            <a:off x="914400" y="3685032"/>
            <a:ext cx="4690872"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Alerts, trust + incident review</a:t>
            </a:r>
          </a:p>
        </p:txBody>
      </p:sp>
      <p:sp>
        <p:nvSpPr>
          <p:cNvPr id="12" name="TextBox 11"/>
          <p:cNvSpPr txBox="1"/>
          <p:nvPr/>
        </p:nvSpPr>
        <p:spPr>
          <a:xfrm>
            <a:off x="914400" y="4416552"/>
            <a:ext cx="4690872"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Acknowledged responses + recovery</a:t>
            </a:r>
          </a:p>
        </p:txBody>
      </p:sp>
      <p:sp>
        <p:nvSpPr>
          <p:cNvPr id="13" name="Rounded Rectangle 12"/>
          <p:cNvSpPr/>
          <p:nvPr/>
        </p:nvSpPr>
        <p:spPr>
          <a:xfrm>
            <a:off x="6355080" y="2423160"/>
            <a:ext cx="5148072" cy="3273552"/>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2651760"/>
            <a:ext cx="36576" cy="2816352"/>
          </a:xfrm>
          <a:prstGeom prst="rect">
            <a:avLst/>
          </a:prstGeom>
          <a:solidFill>
            <a:srgbClr val="FFB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2743200"/>
            <a:ext cx="4690872" cy="777240"/>
          </a:xfrm>
          <a:prstGeom prst="rect">
            <a:avLst/>
          </a:prstGeom>
          <a:noFill/>
        </p:spPr>
        <p:txBody>
          <a:bodyPr wrap="square" lIns="0" rIns="0" tIns="0" bIns="0" anchor="t">
            <a:spAutoFit/>
          </a:bodyPr>
          <a:lstStyle/>
          <a:p>
            <a:pPr algn="l">
              <a:lnSpc>
                <a:spcPct val="112000"/>
              </a:lnSpc>
              <a:spcAft>
                <a:spcPts val="0"/>
              </a:spcAft>
              <a:defRPr sz="2200" b="1">
                <a:solidFill>
                  <a:srgbClr val="FFBE73"/>
                </a:solidFill>
                <a:latin typeface="Noto Sans"/>
              </a:defRPr>
              <a:buNone/>
            </a:pPr>
            <a:r>
              <a:t>VALIDATE NEXT</a:t>
            </a:r>
          </a:p>
        </p:txBody>
      </p:sp>
      <p:sp>
        <p:nvSpPr>
          <p:cNvPr id="16" name="TextBox 15"/>
          <p:cNvSpPr txBox="1"/>
          <p:nvPr/>
        </p:nvSpPr>
        <p:spPr>
          <a:xfrm>
            <a:off x="6583680" y="3685032"/>
            <a:ext cx="4690872"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Live provider account + model</a:t>
            </a:r>
          </a:p>
        </p:txBody>
      </p:sp>
      <p:sp>
        <p:nvSpPr>
          <p:cNvPr id="17" name="TextBox 16"/>
          <p:cNvSpPr txBox="1"/>
          <p:nvPr/>
        </p:nvSpPr>
        <p:spPr>
          <a:xfrm>
            <a:off x="6583680" y="4416552"/>
            <a:ext cx="4690872"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Real XDP packet blocking</a:t>
            </a:r>
          </a:p>
        </p:txBody>
      </p:sp>
      <p:sp>
        <p:nvSpPr>
          <p:cNvPr id="18" name="TextBox 17"/>
          <p:cNvSpPr txBox="1"/>
          <p:nvPr/>
        </p:nvSpPr>
        <p:spPr>
          <a:xfrm>
            <a:off x="731520" y="5934456"/>
            <a:ext cx="10789920" cy="228600"/>
          </a:xfrm>
          <a:prstGeom prst="rect">
            <a:avLst/>
          </a:prstGeom>
          <a:noFill/>
        </p:spPr>
        <p:txBody>
          <a:bodyPr wrap="square" lIns="0" rIns="0" tIns="0" bIns="0" anchor="t">
            <a:spAutoFit/>
          </a:bodyPr>
          <a:lstStyle/>
          <a:p>
            <a:pPr algn="l">
              <a:lnSpc>
                <a:spcPct val="112000"/>
              </a:lnSpc>
              <a:spcAft>
                <a:spcPts val="0"/>
              </a:spcAft>
              <a:defRPr sz="1200" b="0">
                <a:solidFill>
                  <a:srgbClr val="AFC1D3"/>
                </a:solidFill>
                <a:latin typeface="Noto Sans"/>
              </a:defRPr>
              <a:buNone/>
            </a:pPr>
            <a:r>
              <a:t>Synthetic traffic • real backend • scripted offline supervisor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Title 1"/>
          <p:cNvSpPr>
            <a:spLocks noGrp="1"/>
          </p:cNvSpPr>
          <p:nvPr>
            <p:ph type="title"/>
          </p:nvPr>
        </p:nvSpPr>
        <p:spPr>
          <a:xfrm>
            <a:off x="685800" y="932688"/>
            <a:ext cx="10789920" cy="1188720"/>
          </a:xfrm>
        </p:spPr>
        <p:txBody>
          <a:bodyPr wrap="square" lIns="0" rIns="0" tIns="0" bIns="0" anchor="t"/>
          <a:lstStyle/>
          <a:p>
            <a:pPr algn="l">
              <a:lnSpc>
                <a:spcPct val="112000"/>
              </a:lnSpc>
              <a:spcAft>
                <a:spcPts val="0"/>
              </a:spcAft>
              <a:defRPr sz="3400" b="1">
                <a:solidFill>
                  <a:srgbClr val="F3F7FC"/>
                </a:solidFill>
                <a:latin typeface="Noto Sans"/>
              </a:defRPr>
              <a:buNone/>
            </a:pPr>
            <a:r>
              <a:t>The 4 Horsemen</a:t>
            </a:r>
          </a:p>
        </p:txBody>
      </p:sp>
      <p:sp>
        <p:nvSpPr>
          <p:cNvPr id="3" name="Rectangle 2"/>
          <p:cNvSpPr/>
          <p:nvPr/>
        </p:nvSpPr>
        <p:spPr>
          <a:xfrm>
            <a:off x="502920" y="438912"/>
            <a:ext cx="91440" cy="1828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29768"/>
            <a:ext cx="10698480" cy="228600"/>
          </a:xfrm>
          <a:prstGeom prst="rect">
            <a:avLst/>
          </a:prstGeom>
          <a:noFill/>
        </p:spPr>
        <p:txBody>
          <a:bodyPr wrap="square" lIns="0" rIns="0" tIns="0" bIns="0" anchor="t">
            <a:spAutoFit/>
          </a:bodyPr>
          <a:lstStyle/>
          <a:p>
            <a:pPr algn="l">
              <a:lnSpc>
                <a:spcPct val="112000"/>
              </a:lnSpc>
              <a:spcAft>
                <a:spcPts val="0"/>
              </a:spcAft>
              <a:defRPr sz="1100" b="1">
                <a:solidFill>
                  <a:srgbClr val="54E1C1"/>
                </a:solidFill>
                <a:latin typeface="Noto Sans"/>
              </a:defRPr>
              <a:buNone/>
            </a:pPr>
            <a:r>
              <a:t>11 / THE TEAM</a:t>
            </a:r>
          </a:p>
        </p:txBody>
      </p:sp>
      <p:cxnSp>
        <p:nvCxnSpPr>
          <p:cNvPr id="5" name="Connector 4"/>
          <p:cNvCxnSpPr/>
          <p:nvPr/>
        </p:nvCxnSpPr>
        <p:spPr>
          <a:xfrm>
            <a:off x="685800" y="6364224"/>
            <a:ext cx="10817352" cy="0"/>
          </a:xfrm>
          <a:prstGeom prst="line">
            <a:avLst/>
          </a:prstGeom>
          <a:ln w="19050">
            <a:solidFill>
              <a:srgbClr val="2943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510528"/>
            <a:ext cx="6400800" cy="182880"/>
          </a:xfrm>
          <a:prstGeom prst="rect">
            <a:avLst/>
          </a:prstGeom>
          <a:noFill/>
        </p:spPr>
        <p:txBody>
          <a:bodyPr wrap="square" lIns="0" rIns="0" tIns="0" bIns="0" anchor="t">
            <a:spAutoFit/>
          </a:bodyPr>
          <a:lstStyle/>
          <a:p>
            <a:pPr algn="l">
              <a:lnSpc>
                <a:spcPct val="112000"/>
              </a:lnSpc>
              <a:spcAft>
                <a:spcPts val="0"/>
              </a:spcAft>
              <a:defRPr sz="900" b="0">
                <a:solidFill>
                  <a:srgbClr val="AFC1D3"/>
                </a:solidFill>
                <a:latin typeface="Noto Sans"/>
              </a:defRPr>
              <a:buNone/>
            </a:pPr>
            <a:r>
              <a:t>CIPHER  /  STARTUP ALLEY</a:t>
            </a:r>
          </a:p>
        </p:txBody>
      </p:sp>
      <p:sp>
        <p:nvSpPr>
          <p:cNvPr id="7" name="TextBox 6"/>
          <p:cNvSpPr txBox="1"/>
          <p:nvPr/>
        </p:nvSpPr>
        <p:spPr>
          <a:xfrm>
            <a:off x="10561320" y="6492240"/>
            <a:ext cx="941832" cy="210312"/>
          </a:xfrm>
          <a:prstGeom prst="rect">
            <a:avLst/>
          </a:prstGeom>
          <a:noFill/>
        </p:spPr>
        <p:txBody>
          <a:bodyPr wrap="square" lIns="0" rIns="0" tIns="0" bIns="0" anchor="t">
            <a:spAutoFit/>
          </a:bodyPr>
          <a:lstStyle/>
          <a:p>
            <a:pPr algn="r">
              <a:lnSpc>
                <a:spcPct val="112000"/>
              </a:lnSpc>
              <a:spcAft>
                <a:spcPts val="0"/>
              </a:spcAft>
              <a:defRPr sz="1000" b="0">
                <a:solidFill>
                  <a:srgbClr val="AFC1D3"/>
                </a:solidFill>
                <a:latin typeface="JetBrains Mono"/>
              </a:defRPr>
              <a:buNone/>
            </a:pPr>
            <a:r>
              <a:t>11 / 12</a:t>
            </a:r>
          </a:p>
        </p:txBody>
      </p:sp>
      <p:sp>
        <p:nvSpPr>
          <p:cNvPr id="8" name="Rounded Rectangle 7"/>
          <p:cNvSpPr/>
          <p:nvPr/>
        </p:nvSpPr>
        <p:spPr>
          <a:xfrm>
            <a:off x="685800" y="2450592"/>
            <a:ext cx="2532888" cy="320040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679192"/>
            <a:ext cx="36576" cy="274320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79192"/>
            <a:ext cx="2093976" cy="548640"/>
          </a:xfrm>
          <a:prstGeom prst="rect">
            <a:avLst/>
          </a:prstGeom>
          <a:noFill/>
        </p:spPr>
        <p:txBody>
          <a:bodyPr wrap="square" lIns="0" rIns="0" tIns="0" bIns="0" anchor="t">
            <a:spAutoFit/>
          </a:bodyPr>
          <a:lstStyle/>
          <a:p>
            <a:pPr algn="l">
              <a:lnSpc>
                <a:spcPct val="112000"/>
              </a:lnSpc>
              <a:spcAft>
                <a:spcPts val="0"/>
              </a:spcAft>
              <a:defRPr sz="3000" b="1">
                <a:solidFill>
                  <a:srgbClr val="54E1C1"/>
                </a:solidFill>
                <a:latin typeface="JetBrains Mono"/>
              </a:defRPr>
              <a:buNone/>
            </a:pPr>
            <a:r>
              <a:t>01</a:t>
            </a:r>
          </a:p>
        </p:txBody>
      </p:sp>
      <p:sp>
        <p:nvSpPr>
          <p:cNvPr id="11" name="TextBox 10"/>
          <p:cNvSpPr txBox="1"/>
          <p:nvPr/>
        </p:nvSpPr>
        <p:spPr>
          <a:xfrm>
            <a:off x="914400" y="3410712"/>
            <a:ext cx="2075688" cy="777240"/>
          </a:xfrm>
          <a:prstGeom prst="rect">
            <a:avLst/>
          </a:prstGeom>
          <a:noFill/>
        </p:spPr>
        <p:txBody>
          <a:bodyPr wrap="square" lIns="0" rIns="0" tIns="0" bIns="0" anchor="t">
            <a:spAutoFit/>
          </a:bodyPr>
          <a:lstStyle/>
          <a:p>
            <a:pPr algn="l">
              <a:lnSpc>
                <a:spcPct val="112000"/>
              </a:lnSpc>
              <a:spcAft>
                <a:spcPts val="0"/>
              </a:spcAft>
              <a:defRPr sz="2200" b="1">
                <a:solidFill>
                  <a:srgbClr val="54E1C1"/>
                </a:solidFill>
                <a:latin typeface="Noto Sans"/>
              </a:defRPr>
              <a:buNone/>
            </a:pPr>
            <a:r>
              <a:t>Networks</a:t>
            </a:r>
          </a:p>
        </p:txBody>
      </p:sp>
      <p:sp>
        <p:nvSpPr>
          <p:cNvPr id="12" name="TextBox 11"/>
          <p:cNvSpPr txBox="1"/>
          <p:nvPr/>
        </p:nvSpPr>
        <p:spPr>
          <a:xfrm>
            <a:off x="914400" y="4352544"/>
            <a:ext cx="2075688"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Deployment + testing</a:t>
            </a:r>
          </a:p>
        </p:txBody>
      </p:sp>
      <p:sp>
        <p:nvSpPr>
          <p:cNvPr id="13" name="Rounded Rectangle 12"/>
          <p:cNvSpPr/>
          <p:nvPr/>
        </p:nvSpPr>
        <p:spPr>
          <a:xfrm>
            <a:off x="3447288" y="2450592"/>
            <a:ext cx="2532888" cy="320040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47288" y="2679192"/>
            <a:ext cx="36576" cy="2743200"/>
          </a:xfrm>
          <a:prstGeom prst="rect">
            <a:avLst/>
          </a:prstGeom>
          <a:solidFill>
            <a:srgbClr val="73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66744" y="2679192"/>
            <a:ext cx="2093976" cy="548640"/>
          </a:xfrm>
          <a:prstGeom prst="rect">
            <a:avLst/>
          </a:prstGeom>
          <a:noFill/>
        </p:spPr>
        <p:txBody>
          <a:bodyPr wrap="square" lIns="0" rIns="0" tIns="0" bIns="0" anchor="t">
            <a:spAutoFit/>
          </a:bodyPr>
          <a:lstStyle/>
          <a:p>
            <a:pPr algn="l">
              <a:lnSpc>
                <a:spcPct val="112000"/>
              </a:lnSpc>
              <a:spcAft>
                <a:spcPts val="0"/>
              </a:spcAft>
              <a:defRPr sz="3000" b="1">
                <a:solidFill>
                  <a:srgbClr val="73B9FF"/>
                </a:solidFill>
                <a:latin typeface="JetBrains Mono"/>
              </a:defRPr>
              <a:buNone/>
            </a:pPr>
            <a:r>
              <a:t>02</a:t>
            </a:r>
          </a:p>
        </p:txBody>
      </p:sp>
      <p:sp>
        <p:nvSpPr>
          <p:cNvPr id="16" name="TextBox 15"/>
          <p:cNvSpPr txBox="1"/>
          <p:nvPr/>
        </p:nvSpPr>
        <p:spPr>
          <a:xfrm>
            <a:off x="3675887" y="3410712"/>
            <a:ext cx="2075688" cy="777240"/>
          </a:xfrm>
          <a:prstGeom prst="rect">
            <a:avLst/>
          </a:prstGeom>
          <a:noFill/>
        </p:spPr>
        <p:txBody>
          <a:bodyPr wrap="square" lIns="0" rIns="0" tIns="0" bIns="0" anchor="t">
            <a:spAutoFit/>
          </a:bodyPr>
          <a:lstStyle/>
          <a:p>
            <a:pPr algn="l">
              <a:lnSpc>
                <a:spcPct val="112000"/>
              </a:lnSpc>
              <a:spcAft>
                <a:spcPts val="0"/>
              </a:spcAft>
              <a:defRPr sz="2200" b="1">
                <a:solidFill>
                  <a:srgbClr val="73B9FF"/>
                </a:solidFill>
                <a:latin typeface="Noto Sans"/>
              </a:defRPr>
              <a:buNone/>
            </a:pPr>
            <a:r>
              <a:t>eBPF</a:t>
            </a:r>
          </a:p>
        </p:txBody>
      </p:sp>
      <p:sp>
        <p:nvSpPr>
          <p:cNvPr id="17" name="TextBox 16"/>
          <p:cNvSpPr txBox="1"/>
          <p:nvPr/>
        </p:nvSpPr>
        <p:spPr>
          <a:xfrm>
            <a:off x="3675887" y="4352544"/>
            <a:ext cx="2075688"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Packet enforcement</a:t>
            </a:r>
          </a:p>
        </p:txBody>
      </p:sp>
      <p:sp>
        <p:nvSpPr>
          <p:cNvPr id="18" name="Rounded Rectangle 17"/>
          <p:cNvSpPr/>
          <p:nvPr/>
        </p:nvSpPr>
        <p:spPr>
          <a:xfrm>
            <a:off x="6208776" y="2450592"/>
            <a:ext cx="2532888" cy="320040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2679192"/>
            <a:ext cx="36576" cy="274320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8232" y="2679192"/>
            <a:ext cx="2093976" cy="548640"/>
          </a:xfrm>
          <a:prstGeom prst="rect">
            <a:avLst/>
          </a:prstGeom>
          <a:noFill/>
        </p:spPr>
        <p:txBody>
          <a:bodyPr wrap="square" lIns="0" rIns="0" tIns="0" bIns="0" anchor="t">
            <a:spAutoFit/>
          </a:bodyPr>
          <a:lstStyle/>
          <a:p>
            <a:pPr algn="l">
              <a:lnSpc>
                <a:spcPct val="112000"/>
              </a:lnSpc>
              <a:spcAft>
                <a:spcPts val="0"/>
              </a:spcAft>
              <a:defRPr sz="3000" b="1">
                <a:solidFill>
                  <a:srgbClr val="54E1C1"/>
                </a:solidFill>
                <a:latin typeface="JetBrains Mono"/>
              </a:defRPr>
              <a:buNone/>
            </a:pPr>
            <a:r>
              <a:t>03</a:t>
            </a:r>
          </a:p>
        </p:txBody>
      </p:sp>
      <p:sp>
        <p:nvSpPr>
          <p:cNvPr id="21" name="TextBox 20"/>
          <p:cNvSpPr txBox="1"/>
          <p:nvPr/>
        </p:nvSpPr>
        <p:spPr>
          <a:xfrm>
            <a:off x="6437376" y="3410712"/>
            <a:ext cx="2075688" cy="777240"/>
          </a:xfrm>
          <a:prstGeom prst="rect">
            <a:avLst/>
          </a:prstGeom>
          <a:noFill/>
        </p:spPr>
        <p:txBody>
          <a:bodyPr wrap="square" lIns="0" rIns="0" tIns="0" bIns="0" anchor="t">
            <a:spAutoFit/>
          </a:bodyPr>
          <a:lstStyle/>
          <a:p>
            <a:pPr algn="l">
              <a:lnSpc>
                <a:spcPct val="112000"/>
              </a:lnSpc>
              <a:spcAft>
                <a:spcPts val="0"/>
              </a:spcAft>
              <a:defRPr sz="2200" b="1">
                <a:solidFill>
                  <a:srgbClr val="54E1C1"/>
                </a:solidFill>
                <a:latin typeface="Noto Sans"/>
              </a:defRPr>
              <a:buNone/>
            </a:pPr>
            <a:r>
              <a:t>Rust</a:t>
            </a:r>
          </a:p>
        </p:txBody>
      </p:sp>
      <p:sp>
        <p:nvSpPr>
          <p:cNvPr id="22" name="TextBox 21"/>
          <p:cNvSpPr txBox="1"/>
          <p:nvPr/>
        </p:nvSpPr>
        <p:spPr>
          <a:xfrm>
            <a:off x="6437376" y="4352544"/>
            <a:ext cx="2075688"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Edge + server</a:t>
            </a:r>
          </a:p>
        </p:txBody>
      </p:sp>
      <p:sp>
        <p:nvSpPr>
          <p:cNvPr id="23" name="Rounded Rectangle 22"/>
          <p:cNvSpPr/>
          <p:nvPr/>
        </p:nvSpPr>
        <p:spPr>
          <a:xfrm>
            <a:off x="8970264" y="2450592"/>
            <a:ext cx="2532888" cy="320040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70264" y="2679192"/>
            <a:ext cx="36576" cy="2743200"/>
          </a:xfrm>
          <a:prstGeom prst="rect">
            <a:avLst/>
          </a:prstGeom>
          <a:solidFill>
            <a:srgbClr val="73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9720" y="2679192"/>
            <a:ext cx="2093976" cy="548640"/>
          </a:xfrm>
          <a:prstGeom prst="rect">
            <a:avLst/>
          </a:prstGeom>
          <a:noFill/>
        </p:spPr>
        <p:txBody>
          <a:bodyPr wrap="square" lIns="0" rIns="0" tIns="0" bIns="0" anchor="t">
            <a:spAutoFit/>
          </a:bodyPr>
          <a:lstStyle/>
          <a:p>
            <a:pPr algn="l">
              <a:lnSpc>
                <a:spcPct val="112000"/>
              </a:lnSpc>
              <a:spcAft>
                <a:spcPts val="0"/>
              </a:spcAft>
              <a:defRPr sz="3000" b="1">
                <a:solidFill>
                  <a:srgbClr val="73B9FF"/>
                </a:solidFill>
                <a:latin typeface="JetBrains Mono"/>
              </a:defRPr>
              <a:buNone/>
            </a:pPr>
            <a:r>
              <a:t>04</a:t>
            </a:r>
          </a:p>
        </p:txBody>
      </p:sp>
      <p:sp>
        <p:nvSpPr>
          <p:cNvPr id="26" name="TextBox 25"/>
          <p:cNvSpPr txBox="1"/>
          <p:nvPr/>
        </p:nvSpPr>
        <p:spPr>
          <a:xfrm>
            <a:off x="9198864" y="3410712"/>
            <a:ext cx="2075688" cy="777240"/>
          </a:xfrm>
          <a:prstGeom prst="rect">
            <a:avLst/>
          </a:prstGeom>
          <a:noFill/>
        </p:spPr>
        <p:txBody>
          <a:bodyPr wrap="square" lIns="0" rIns="0" tIns="0" bIns="0" anchor="t">
            <a:spAutoFit/>
          </a:bodyPr>
          <a:lstStyle/>
          <a:p>
            <a:pPr algn="l">
              <a:lnSpc>
                <a:spcPct val="112000"/>
              </a:lnSpc>
              <a:spcAft>
                <a:spcPts val="0"/>
              </a:spcAft>
              <a:defRPr sz="2200" b="1">
                <a:solidFill>
                  <a:srgbClr val="73B9FF"/>
                </a:solidFill>
                <a:latin typeface="Noto Sans"/>
              </a:defRPr>
              <a:buNone/>
            </a:pPr>
            <a:r>
              <a:t>AI</a:t>
            </a:r>
          </a:p>
        </p:txBody>
      </p:sp>
      <p:sp>
        <p:nvSpPr>
          <p:cNvPr id="27" name="TextBox 26"/>
          <p:cNvSpPr txBox="1"/>
          <p:nvPr/>
        </p:nvSpPr>
        <p:spPr>
          <a:xfrm>
            <a:off x="9198864" y="4352544"/>
            <a:ext cx="2075688"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Behavioral analysis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321"/>
        </a:solidFill>
        <a:effectLst/>
      </p:bgPr>
    </p:bg>
    <p:spTree>
      <p:nvGrpSpPr>
        <p:cNvPr id="1" name=""/>
        <p:cNvGrpSpPr/>
        <p:nvPr/>
      </p:nvGrpSpPr>
      <p:grpSpPr/>
      <p:sp>
        <p:nvSpPr>
          <p:cNvPr id="2" name="Title 1"/>
          <p:cNvSpPr>
            <a:spLocks noGrp="1"/>
          </p:cNvSpPr>
          <p:nvPr>
            <p:ph type="title"/>
          </p:nvPr>
        </p:nvSpPr>
        <p:spPr>
          <a:xfrm>
            <a:off x="685800" y="932688"/>
            <a:ext cx="10789920" cy="1188720"/>
          </a:xfrm>
        </p:spPr>
        <p:txBody>
          <a:bodyPr wrap="square" lIns="0" rIns="0" tIns="0" bIns="0" anchor="t"/>
          <a:lstStyle/>
          <a:p>
            <a:pPr algn="l">
              <a:lnSpc>
                <a:spcPct val="112000"/>
              </a:lnSpc>
              <a:spcAft>
                <a:spcPts val="0"/>
              </a:spcAft>
              <a:defRPr sz="3400" b="1">
                <a:solidFill>
                  <a:srgbClr val="F3F7FC"/>
                </a:solidFill>
                <a:latin typeface="Noto Sans"/>
              </a:defRPr>
              <a:buNone/>
            </a:pPr>
            <a:r>
              <a:t>Help us earn the next deployment.</a:t>
            </a:r>
          </a:p>
        </p:txBody>
      </p:sp>
      <p:sp>
        <p:nvSpPr>
          <p:cNvPr id="3" name="Rectangle 2"/>
          <p:cNvSpPr/>
          <p:nvPr/>
        </p:nvSpPr>
        <p:spPr>
          <a:xfrm>
            <a:off x="502920" y="438912"/>
            <a:ext cx="91440" cy="18288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429768"/>
            <a:ext cx="10698480" cy="228600"/>
          </a:xfrm>
          <a:prstGeom prst="rect">
            <a:avLst/>
          </a:prstGeom>
          <a:noFill/>
        </p:spPr>
        <p:txBody>
          <a:bodyPr wrap="square" lIns="0" rIns="0" tIns="0" bIns="0" anchor="t">
            <a:spAutoFit/>
          </a:bodyPr>
          <a:lstStyle/>
          <a:p>
            <a:pPr algn="l">
              <a:lnSpc>
                <a:spcPct val="112000"/>
              </a:lnSpc>
              <a:spcAft>
                <a:spcPts val="0"/>
              </a:spcAft>
              <a:defRPr sz="1100" b="1">
                <a:solidFill>
                  <a:srgbClr val="54E1C1"/>
                </a:solidFill>
                <a:latin typeface="Noto Sans"/>
              </a:defRPr>
              <a:buNone/>
            </a:pPr>
            <a:r>
              <a:t>12 / STARTUP ALLEY ASK</a:t>
            </a:r>
          </a:p>
        </p:txBody>
      </p:sp>
      <p:cxnSp>
        <p:nvCxnSpPr>
          <p:cNvPr id="5" name="Connector 4"/>
          <p:cNvCxnSpPr/>
          <p:nvPr/>
        </p:nvCxnSpPr>
        <p:spPr>
          <a:xfrm>
            <a:off x="685800" y="6364224"/>
            <a:ext cx="10817352" cy="0"/>
          </a:xfrm>
          <a:prstGeom prst="line">
            <a:avLst/>
          </a:prstGeom>
          <a:ln w="19050">
            <a:solidFill>
              <a:srgbClr val="2943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85800" y="6510528"/>
            <a:ext cx="6400800" cy="182880"/>
          </a:xfrm>
          <a:prstGeom prst="rect">
            <a:avLst/>
          </a:prstGeom>
          <a:noFill/>
        </p:spPr>
        <p:txBody>
          <a:bodyPr wrap="square" lIns="0" rIns="0" tIns="0" bIns="0" anchor="t">
            <a:spAutoFit/>
          </a:bodyPr>
          <a:lstStyle/>
          <a:p>
            <a:pPr algn="l">
              <a:lnSpc>
                <a:spcPct val="112000"/>
              </a:lnSpc>
              <a:spcAft>
                <a:spcPts val="0"/>
              </a:spcAft>
              <a:defRPr sz="900" b="0">
                <a:solidFill>
                  <a:srgbClr val="AFC1D3"/>
                </a:solidFill>
                <a:latin typeface="Noto Sans"/>
              </a:defRPr>
              <a:buNone/>
            </a:pPr>
            <a:r>
              <a:t>CIPHER  /  STARTUP ALLEY</a:t>
            </a:r>
          </a:p>
        </p:txBody>
      </p:sp>
      <p:sp>
        <p:nvSpPr>
          <p:cNvPr id="7" name="TextBox 6"/>
          <p:cNvSpPr txBox="1"/>
          <p:nvPr/>
        </p:nvSpPr>
        <p:spPr>
          <a:xfrm>
            <a:off x="10561320" y="6492240"/>
            <a:ext cx="941832" cy="210312"/>
          </a:xfrm>
          <a:prstGeom prst="rect">
            <a:avLst/>
          </a:prstGeom>
          <a:noFill/>
        </p:spPr>
        <p:txBody>
          <a:bodyPr wrap="square" lIns="0" rIns="0" tIns="0" bIns="0" anchor="t">
            <a:spAutoFit/>
          </a:bodyPr>
          <a:lstStyle/>
          <a:p>
            <a:pPr algn="r">
              <a:lnSpc>
                <a:spcPct val="112000"/>
              </a:lnSpc>
              <a:spcAft>
                <a:spcPts val="0"/>
              </a:spcAft>
              <a:defRPr sz="1000" b="0">
                <a:solidFill>
                  <a:srgbClr val="AFC1D3"/>
                </a:solidFill>
                <a:latin typeface="JetBrains Mono"/>
              </a:defRPr>
              <a:buNone/>
            </a:pPr>
            <a:r>
              <a:t>12 / 12</a:t>
            </a:r>
          </a:p>
        </p:txBody>
      </p:sp>
      <p:sp>
        <p:nvSpPr>
          <p:cNvPr id="8" name="Rounded Rectangle 7"/>
          <p:cNvSpPr/>
          <p:nvPr/>
        </p:nvSpPr>
        <p:spPr>
          <a:xfrm>
            <a:off x="685800" y="2423160"/>
            <a:ext cx="3429000" cy="324612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651760"/>
            <a:ext cx="36576" cy="2788920"/>
          </a:xfrm>
          <a:prstGeom prst="rect">
            <a:avLst/>
          </a:prstGeom>
          <a:solidFill>
            <a:srgbClr val="54E1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5256" y="2651760"/>
            <a:ext cx="2990088" cy="548640"/>
          </a:xfrm>
          <a:prstGeom prst="rect">
            <a:avLst/>
          </a:prstGeom>
          <a:noFill/>
        </p:spPr>
        <p:txBody>
          <a:bodyPr wrap="square" lIns="0" rIns="0" tIns="0" bIns="0" anchor="t">
            <a:spAutoFit/>
          </a:bodyPr>
          <a:lstStyle/>
          <a:p>
            <a:pPr algn="l">
              <a:lnSpc>
                <a:spcPct val="112000"/>
              </a:lnSpc>
              <a:spcAft>
                <a:spcPts val="0"/>
              </a:spcAft>
              <a:defRPr sz="3000" b="1">
                <a:solidFill>
                  <a:srgbClr val="54E1C1"/>
                </a:solidFill>
                <a:latin typeface="JetBrains Mono"/>
              </a:defRPr>
              <a:buNone/>
            </a:pPr>
            <a:r>
              <a:t>01</a:t>
            </a:r>
          </a:p>
        </p:txBody>
      </p:sp>
      <p:sp>
        <p:nvSpPr>
          <p:cNvPr id="11" name="TextBox 10"/>
          <p:cNvSpPr txBox="1"/>
          <p:nvPr/>
        </p:nvSpPr>
        <p:spPr>
          <a:xfrm>
            <a:off x="914400" y="3383280"/>
            <a:ext cx="2971800" cy="777240"/>
          </a:xfrm>
          <a:prstGeom prst="rect">
            <a:avLst/>
          </a:prstGeom>
          <a:noFill/>
        </p:spPr>
        <p:txBody>
          <a:bodyPr wrap="square" lIns="0" rIns="0" tIns="0" bIns="0" anchor="t">
            <a:spAutoFit/>
          </a:bodyPr>
          <a:lstStyle/>
          <a:p>
            <a:pPr algn="l">
              <a:lnSpc>
                <a:spcPct val="112000"/>
              </a:lnSpc>
              <a:spcAft>
                <a:spcPts val="0"/>
              </a:spcAft>
              <a:defRPr sz="2200" b="1">
                <a:solidFill>
                  <a:srgbClr val="54E1C1"/>
                </a:solidFill>
                <a:latin typeface="Noto Sans"/>
              </a:defRPr>
              <a:buNone/>
            </a:pPr>
            <a:r>
              <a:t>Design partners</a:t>
            </a:r>
          </a:p>
        </p:txBody>
      </p:sp>
      <p:sp>
        <p:nvSpPr>
          <p:cNvPr id="12" name="TextBox 11"/>
          <p:cNvSpPr txBox="1"/>
          <p:nvPr/>
        </p:nvSpPr>
        <p:spPr>
          <a:xfrm>
            <a:off x="914400" y="4325112"/>
            <a:ext cx="297180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Define SOHO pilot needs</a:t>
            </a:r>
          </a:p>
        </p:txBody>
      </p:sp>
      <p:sp>
        <p:nvSpPr>
          <p:cNvPr id="13" name="Rounded Rectangle 12"/>
          <p:cNvSpPr/>
          <p:nvPr/>
        </p:nvSpPr>
        <p:spPr>
          <a:xfrm>
            <a:off x="4379976" y="2423160"/>
            <a:ext cx="3429000" cy="324612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79976" y="2651760"/>
            <a:ext cx="36576" cy="2788920"/>
          </a:xfrm>
          <a:prstGeom prst="rect">
            <a:avLst/>
          </a:prstGeom>
          <a:solidFill>
            <a:srgbClr val="73B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2" y="2651760"/>
            <a:ext cx="2990088" cy="548640"/>
          </a:xfrm>
          <a:prstGeom prst="rect">
            <a:avLst/>
          </a:prstGeom>
          <a:noFill/>
        </p:spPr>
        <p:txBody>
          <a:bodyPr wrap="square" lIns="0" rIns="0" tIns="0" bIns="0" anchor="t">
            <a:spAutoFit/>
          </a:bodyPr>
          <a:lstStyle/>
          <a:p>
            <a:pPr algn="l">
              <a:lnSpc>
                <a:spcPct val="112000"/>
              </a:lnSpc>
              <a:spcAft>
                <a:spcPts val="0"/>
              </a:spcAft>
              <a:defRPr sz="3000" b="1">
                <a:solidFill>
                  <a:srgbClr val="73B9FF"/>
                </a:solidFill>
                <a:latin typeface="JetBrains Mono"/>
              </a:defRPr>
              <a:buNone/>
            </a:pPr>
            <a:r>
              <a:t>02</a:t>
            </a:r>
          </a:p>
        </p:txBody>
      </p:sp>
      <p:sp>
        <p:nvSpPr>
          <p:cNvPr id="16" name="TextBox 15"/>
          <p:cNvSpPr txBox="1"/>
          <p:nvPr/>
        </p:nvSpPr>
        <p:spPr>
          <a:xfrm>
            <a:off x="4608576" y="3383280"/>
            <a:ext cx="2971800" cy="777240"/>
          </a:xfrm>
          <a:prstGeom prst="rect">
            <a:avLst/>
          </a:prstGeom>
          <a:noFill/>
        </p:spPr>
        <p:txBody>
          <a:bodyPr wrap="square" lIns="0" rIns="0" tIns="0" bIns="0" anchor="t">
            <a:spAutoFit/>
          </a:bodyPr>
          <a:lstStyle/>
          <a:p>
            <a:pPr algn="l">
              <a:lnSpc>
                <a:spcPct val="112000"/>
              </a:lnSpc>
              <a:spcAft>
                <a:spcPts val="0"/>
              </a:spcAft>
              <a:defRPr sz="2200" b="1">
                <a:solidFill>
                  <a:srgbClr val="73B9FF"/>
                </a:solidFill>
                <a:latin typeface="Noto Sans"/>
              </a:defRPr>
              <a:buNone/>
            </a:pPr>
            <a:r>
              <a:t>Hardware feedback</a:t>
            </a:r>
          </a:p>
        </p:txBody>
      </p:sp>
      <p:sp>
        <p:nvSpPr>
          <p:cNvPr id="17" name="TextBox 16"/>
          <p:cNvSpPr txBox="1"/>
          <p:nvPr/>
        </p:nvSpPr>
        <p:spPr>
          <a:xfrm>
            <a:off x="4608576" y="4325112"/>
            <a:ext cx="297180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Review edge/server setup</a:t>
            </a:r>
          </a:p>
        </p:txBody>
      </p:sp>
      <p:sp>
        <p:nvSpPr>
          <p:cNvPr id="18" name="Rounded Rectangle 17"/>
          <p:cNvSpPr/>
          <p:nvPr/>
        </p:nvSpPr>
        <p:spPr>
          <a:xfrm>
            <a:off x="8074152" y="2423160"/>
            <a:ext cx="3429000" cy="3246120"/>
          </a:xfrm>
          <a:prstGeom prst="roundRect">
            <a:avLst>
              <a:gd name="adj" fmla="val 8000"/>
            </a:avLst>
          </a:prstGeom>
          <a:solidFill>
            <a:srgbClr val="102237"/>
          </a:solidFill>
          <a:ln w="12700">
            <a:solidFill>
              <a:srgbClr val="2943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4152" y="2651760"/>
            <a:ext cx="36576" cy="2788920"/>
          </a:xfrm>
          <a:prstGeom prst="rect">
            <a:avLst/>
          </a:prstGeom>
          <a:solidFill>
            <a:srgbClr val="FFB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2651760"/>
            <a:ext cx="2990088" cy="548640"/>
          </a:xfrm>
          <a:prstGeom prst="rect">
            <a:avLst/>
          </a:prstGeom>
          <a:noFill/>
        </p:spPr>
        <p:txBody>
          <a:bodyPr wrap="square" lIns="0" rIns="0" tIns="0" bIns="0" anchor="t">
            <a:spAutoFit/>
          </a:bodyPr>
          <a:lstStyle/>
          <a:p>
            <a:pPr algn="l">
              <a:lnSpc>
                <a:spcPct val="112000"/>
              </a:lnSpc>
              <a:spcAft>
                <a:spcPts val="0"/>
              </a:spcAft>
              <a:defRPr sz="3000" b="1">
                <a:solidFill>
                  <a:srgbClr val="FFBE73"/>
                </a:solidFill>
                <a:latin typeface="JetBrains Mono"/>
              </a:defRPr>
              <a:buNone/>
            </a:pPr>
            <a:r>
              <a:t>03</a:t>
            </a:r>
          </a:p>
        </p:txBody>
      </p:sp>
      <p:sp>
        <p:nvSpPr>
          <p:cNvPr id="21" name="TextBox 20"/>
          <p:cNvSpPr txBox="1"/>
          <p:nvPr/>
        </p:nvSpPr>
        <p:spPr>
          <a:xfrm>
            <a:off x="8302752" y="3383280"/>
            <a:ext cx="2971800" cy="777240"/>
          </a:xfrm>
          <a:prstGeom prst="rect">
            <a:avLst/>
          </a:prstGeom>
          <a:noFill/>
        </p:spPr>
        <p:txBody>
          <a:bodyPr wrap="square" lIns="0" rIns="0" tIns="0" bIns="0" anchor="t">
            <a:spAutoFit/>
          </a:bodyPr>
          <a:lstStyle/>
          <a:p>
            <a:pPr algn="l">
              <a:lnSpc>
                <a:spcPct val="112000"/>
              </a:lnSpc>
              <a:spcAft>
                <a:spcPts val="0"/>
              </a:spcAft>
              <a:defRPr sz="2200" b="1">
                <a:solidFill>
                  <a:srgbClr val="FFBE73"/>
                </a:solidFill>
                <a:latin typeface="Noto Sans"/>
              </a:defRPr>
              <a:buNone/>
            </a:pPr>
            <a:r>
              <a:t>Mentors</a:t>
            </a:r>
          </a:p>
        </p:txBody>
      </p:sp>
      <p:sp>
        <p:nvSpPr>
          <p:cNvPr id="22" name="TextBox 21"/>
          <p:cNvSpPr txBox="1"/>
          <p:nvPr/>
        </p:nvSpPr>
        <p:spPr>
          <a:xfrm>
            <a:off x="8302752" y="4325112"/>
            <a:ext cx="2971800" cy="649224"/>
          </a:xfrm>
          <a:prstGeom prst="rect">
            <a:avLst/>
          </a:prstGeom>
          <a:noFill/>
        </p:spPr>
        <p:txBody>
          <a:bodyPr wrap="square" lIns="0" rIns="0" tIns="0" bIns="0" anchor="t">
            <a:spAutoFit/>
          </a:bodyPr>
          <a:lstStyle/>
          <a:p>
            <a:pPr algn="l" marL="210312" indent="-210312">
              <a:lnSpc>
                <a:spcPct val="112000"/>
              </a:lnSpc>
              <a:spcAft>
                <a:spcPts val="0"/>
              </a:spcAft>
              <a:defRPr sz="1900" b="0">
                <a:solidFill>
                  <a:srgbClr val="F3F7FC"/>
                </a:solidFill>
                <a:latin typeface="Noto Sans"/>
              </a:defRPr>
              <a:buChar char="•"/>
            </a:pPr>
            <a:r>
              <a:t>Validate security + reliability</a:t>
            </a:r>
          </a:p>
        </p:txBody>
      </p:sp>
      <p:sp>
        <p:nvSpPr>
          <p:cNvPr id="23" name="TextBox 22"/>
          <p:cNvSpPr txBox="1"/>
          <p:nvPr/>
        </p:nvSpPr>
        <p:spPr>
          <a:xfrm>
            <a:off x="731520" y="5870448"/>
            <a:ext cx="10789920" cy="402336"/>
          </a:xfrm>
          <a:prstGeom prst="rect">
            <a:avLst/>
          </a:prstGeom>
          <a:noFill/>
        </p:spPr>
        <p:txBody>
          <a:bodyPr wrap="square" lIns="0" rIns="0" tIns="0" bIns="0" anchor="t">
            <a:spAutoFit/>
          </a:bodyPr>
          <a:lstStyle/>
          <a:p>
            <a:pPr algn="l">
              <a:lnSpc>
                <a:spcPct val="112000"/>
              </a:lnSpc>
              <a:spcAft>
                <a:spcPts val="0"/>
              </a:spcAft>
              <a:defRPr sz="1900" b="0">
                <a:solidFill>
                  <a:srgbClr val="AFC1D3"/>
                </a:solidFill>
                <a:latin typeface="Noto Sans"/>
              </a:defRPr>
              <a:buNone/>
            </a:pPr>
            <a:r>
              <a:t>Rehearsed demo → gateway validation → measured pilots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CIPHER | Startup Alley</dc:title>
  <dc:subject>Experimental behavioral protection alongside existing firewalls</dc:subject>
  <dc:creator>The 4 Horsemen</dc:creator>
  <cp:keywords>CIPHER, Startup Alley, eBPF, XDP, Rust, SOHO, prototype</cp:keywords>
  <dc:description>12-slide booth pitch: rehearsed software flows, explicit simulation and remaining live validation.</dc:description>
  <cp:lastModifiedBy>Steve Canny</cp:lastModifiedBy>
  <cp:revision>1</cp:revision>
  <dcterms:created xsi:type="dcterms:W3CDTF">2013-01-27T09:14:16Z</dcterms:created>
  <dcterms:modified xsi:type="dcterms:W3CDTF">2013-01-27T09:15:58Z</dcterms:modified>
  <cp:category/>
</cp:coreProperties>
</file>